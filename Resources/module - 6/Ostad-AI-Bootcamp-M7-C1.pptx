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embeddedFontLst>
    <p:embeddedFont>
      <p:font typeface="Roboto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regular.fntdata"/><Relationship Id="rId50" Type="http://schemas.openxmlformats.org/officeDocument/2006/relationships/slide" Target="slides/slide45.xml"/><Relationship Id="rId53" Type="http://schemas.openxmlformats.org/officeDocument/2006/relationships/font" Target="fonts/Roboto-italic.fntdata"/><Relationship Id="rId52" Type="http://schemas.openxmlformats.org/officeDocument/2006/relationships/font" Target="fonts/Robo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5d42661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5d42661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ce3e806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ce3e806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ce3e806e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ce3e806e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5a85c53e8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5a85c53e8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5a85c53e8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5a85c53e8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5a85c53e8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5a85c53e8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5a85c53e8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5a85c53e8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5a85c53e8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5a85c53e8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ce92c67d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ce92c67d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5a85c53e8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5a85c53e8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ce92c67d3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ce92c67d3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5a85c53e8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5a85c53e8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4d837dc4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4d837dc4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5a85c53e8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5a85c53e8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ce92c67d3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ce92c67d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5a85c53e8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5a85c53e8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ce92c67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ce92c67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4c40ebc6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4c40ebc6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f2f8c3e9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f2f8c3e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4c40ebc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4c40ebc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f2f8c3e9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df2f8c3e9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4c40ebc6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4c40ebc6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4c40ebc6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4c40ebc6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4c40ebc6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4c40ebc6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4c40ebc6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d4c40ebc6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4c40ebc6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4c40ebc6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4c40ebc6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4c40ebc6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4c40ebc6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d4c40ebc6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4c40ebc6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d4c40ebc6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4c40ebc6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d4c40ebc6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4c40ebc6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d4c40ebc6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4c40ebc6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4c40ebc6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d5b4d92d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dd5b4d92d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d5b4d92d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dd5b4d92d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4c40ebc6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d4c40ebc6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d5b4d92d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dd5b4d92d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4c40ebc6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d4c40ebc6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f30ee264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df30ee264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f30ee264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df30ee264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f30ee264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df30ee264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f30ee264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df30ee264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f30ee264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df30ee264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df30ee264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df30ee264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c5a85c53e8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c5a85c53e8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6.pn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.png"/><Relationship Id="rId5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hyperlink" Target="https://claude.ai/public/artifacts/64c1005e-eff5-4b59-8030-35e3e1905c67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41.png"/><Relationship Id="rId5" Type="http://schemas.openxmlformats.org/officeDocument/2006/relationships/image" Target="../media/image39.png"/><Relationship Id="rId6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laude.ai/public/artifacts/0e97951e-45c9-4cb9-9306-7c9b19acba03" TargetMode="External"/><Relationship Id="rId4" Type="http://schemas.openxmlformats.org/officeDocument/2006/relationships/image" Target="../media/image47.png"/><Relationship Id="rId5" Type="http://schemas.openxmlformats.org/officeDocument/2006/relationships/hyperlink" Target="https://claude.ai/public/artifacts/0e97951e-45c9-4cb9-9306-7c9b19acba03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5.png"/><Relationship Id="rId4" Type="http://schemas.openxmlformats.org/officeDocument/2006/relationships/image" Target="../media/image5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www.youtube.com/watch?v=xAXvfVTgqr0" TargetMode="External"/><Relationship Id="rId4" Type="http://schemas.openxmlformats.org/officeDocument/2006/relationships/image" Target="../media/image29.jpg"/><Relationship Id="rId5" Type="http://schemas.openxmlformats.org/officeDocument/2006/relationships/hyperlink" Target="http://www.youtube.com/watch?v=tF4DML7FIWk" TargetMode="External"/><Relationship Id="rId6" Type="http://schemas.openxmlformats.org/officeDocument/2006/relationships/image" Target="../media/image30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://k21academy.com/azure-data/structured-data-vs-unstructured-data-vs-semi-structured-data/" TargetMode="External"/><Relationship Id="rId4" Type="http://schemas.openxmlformats.org/officeDocument/2006/relationships/image" Target="../media/image5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810750"/>
            <a:ext cx="8520600" cy="14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200"/>
              <a:t>Roadmap and Intro to Machine Learning</a:t>
            </a:r>
            <a:endParaRPr sz="3200"/>
          </a:p>
        </p:txBody>
      </p:sp>
      <p:sp>
        <p:nvSpPr>
          <p:cNvPr id="55" name="Google Shape;55;p13"/>
          <p:cNvSpPr txBox="1"/>
          <p:nvPr/>
        </p:nvSpPr>
        <p:spPr>
          <a:xfrm>
            <a:off x="2462213" y="3364350"/>
            <a:ext cx="4219200" cy="1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Abdullah Saihan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A</a:t>
            </a:r>
            <a:r>
              <a:rPr lang="en" sz="2200"/>
              <a:t>rtificial Intelligence</a:t>
            </a:r>
            <a:r>
              <a:rPr lang="en" sz="2200">
                <a:solidFill>
                  <a:srgbClr val="000000"/>
                </a:solidFill>
              </a:rPr>
              <a:t> Engineer</a:t>
            </a:r>
            <a:endParaRPr sz="2200">
              <a:solidFill>
                <a:srgbClr val="595959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5250" y="4226325"/>
            <a:ext cx="1793126" cy="3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Data Science Vs AI/ML</a:t>
            </a:r>
            <a:endParaRPr b="1" sz="222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4675" y="1198550"/>
            <a:ext cx="4762500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492475" y="1152475"/>
            <a:ext cx="1878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4141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➡️ Data science is about turning </a:t>
            </a:r>
            <a:r>
              <a:rPr b="1" lang="en">
                <a:solidFill>
                  <a:srgbClr val="14141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raw data into useful knowledge.</a:t>
            </a:r>
            <a:endParaRPr b="1"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141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➡️</a:t>
            </a:r>
            <a:r>
              <a:rPr lang="en">
                <a:solidFill>
                  <a:srgbClr val="14141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Artificial intelligence teaches computers to act and decide like humans</a:t>
            </a:r>
            <a:endParaRPr b="1"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4141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AI landscape</a:t>
            </a:r>
            <a:endParaRPr b="1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18220" l="0" r="0" t="0"/>
          <a:stretch/>
        </p:blipFill>
        <p:spPr>
          <a:xfrm>
            <a:off x="1770588" y="1090563"/>
            <a:ext cx="5602826" cy="354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The AI landscape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850" y="1152475"/>
            <a:ext cx="607211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1. Programming Foundations: </a:t>
            </a:r>
            <a:r>
              <a:rPr b="1" lang="en" sz="2300"/>
              <a:t>Learn Python</a:t>
            </a:r>
            <a:endParaRPr sz="3020"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Why Python?                                                         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Most AI tools use Python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Beginner friendly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Huge ecosystem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3800" y="1666175"/>
            <a:ext cx="5127626" cy="260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/>
              <a:t>2. Learn Data Handling</a:t>
            </a:r>
            <a:endParaRPr b="1" sz="2200"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465">
                <a:solidFill>
                  <a:schemeClr val="dk1"/>
                </a:solidFill>
              </a:rPr>
              <a:t>AI requires working with data.</a:t>
            </a:r>
            <a:endParaRPr sz="646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465">
                <a:solidFill>
                  <a:schemeClr val="dk1"/>
                </a:solidFill>
              </a:rPr>
              <a:t>Learn:</a:t>
            </a:r>
            <a:endParaRPr sz="6465">
              <a:solidFill>
                <a:schemeClr val="dk1"/>
              </a:solidFill>
            </a:endParaRPr>
          </a:p>
          <a:p>
            <a:pPr indent="-33123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65">
                <a:solidFill>
                  <a:schemeClr val="dk1"/>
                </a:solidFill>
              </a:rPr>
              <a:t>NumPy</a:t>
            </a:r>
            <a:br>
              <a:rPr lang="en" sz="6465">
                <a:solidFill>
                  <a:schemeClr val="dk1"/>
                </a:solidFill>
              </a:rPr>
            </a:br>
            <a:endParaRPr sz="6465">
              <a:solidFill>
                <a:schemeClr val="dk1"/>
              </a:solidFill>
            </a:endParaRPr>
          </a:p>
          <a:p>
            <a:pPr indent="-33123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65">
                <a:solidFill>
                  <a:schemeClr val="dk1"/>
                </a:solidFill>
              </a:rPr>
              <a:t>Pandas</a:t>
            </a:r>
            <a:br>
              <a:rPr lang="en" sz="6465">
                <a:solidFill>
                  <a:schemeClr val="dk1"/>
                </a:solidFill>
              </a:rPr>
            </a:br>
            <a:endParaRPr sz="6465">
              <a:solidFill>
                <a:schemeClr val="dk1"/>
              </a:solidFill>
            </a:endParaRPr>
          </a:p>
          <a:p>
            <a:pPr indent="-33123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65">
                <a:solidFill>
                  <a:schemeClr val="dk1"/>
                </a:solidFill>
              </a:rPr>
              <a:t>Data cleaning</a:t>
            </a:r>
            <a:br>
              <a:rPr lang="en" sz="6465">
                <a:solidFill>
                  <a:schemeClr val="dk1"/>
                </a:solidFill>
              </a:rPr>
            </a:br>
            <a:endParaRPr sz="6465">
              <a:solidFill>
                <a:schemeClr val="dk1"/>
              </a:solidFill>
            </a:endParaRPr>
          </a:p>
          <a:p>
            <a:pPr indent="-33123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65">
                <a:solidFill>
                  <a:schemeClr val="dk1"/>
                </a:solidFill>
              </a:rPr>
              <a:t>Dat Visualization</a:t>
            </a:r>
            <a:br>
              <a:rPr lang="en" sz="6465">
                <a:solidFill>
                  <a:schemeClr val="dk1"/>
                </a:solidFill>
              </a:rPr>
            </a:br>
            <a:endParaRPr sz="646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46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b="0" l="0" r="0" t="31880"/>
          <a:stretch/>
        </p:blipFill>
        <p:spPr>
          <a:xfrm>
            <a:off x="4129150" y="1362199"/>
            <a:ext cx="3738049" cy="241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3. Understand Machine Learning Basics</a:t>
            </a:r>
            <a:endParaRPr b="1" sz="2200"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606150" y="1017725"/>
            <a:ext cx="4701600" cy="40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Machine learning is </a:t>
            </a:r>
            <a:r>
              <a:rPr lang="en" sz="1600">
                <a:solidFill>
                  <a:schemeClr val="dk1"/>
                </a:solidFill>
              </a:rPr>
              <a:t>a subset of </a:t>
            </a:r>
            <a:r>
              <a:rPr b="1" lang="en" sz="1600">
                <a:solidFill>
                  <a:schemeClr val="dk1"/>
                </a:solidFill>
              </a:rPr>
              <a:t>artificial intelligence</a:t>
            </a:r>
            <a:r>
              <a:rPr lang="en" sz="1600">
                <a:solidFill>
                  <a:schemeClr val="dk1"/>
                </a:solidFill>
              </a:rPr>
              <a:t> that enables computer systems to </a:t>
            </a:r>
            <a:r>
              <a:rPr b="1" lang="en" sz="1600">
                <a:solidFill>
                  <a:schemeClr val="dk1"/>
                </a:solidFill>
              </a:rPr>
              <a:t>learn from data.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Understand concepts: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Supervised and Unsupervised learning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Classification and Regression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Overfitting / Underfitting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Train/Test split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Evaluation metrics (Accurcary, F1 etc)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7750" y="3584550"/>
            <a:ext cx="2331174" cy="125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4950" y="1017725"/>
            <a:ext cx="3888273" cy="216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4. </a:t>
            </a:r>
            <a:r>
              <a:rPr b="1" lang="en" sz="2200"/>
              <a:t>Understanding Deep Learning Basics</a:t>
            </a:r>
            <a:endParaRPr b="1" sz="2200"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445400" y="1152475"/>
            <a:ext cx="4701600" cy="3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Deep Learning is a </a:t>
            </a:r>
            <a:r>
              <a:rPr b="1" lang="en" sz="1600">
                <a:solidFill>
                  <a:schemeClr val="dk1"/>
                </a:solidFill>
              </a:rPr>
              <a:t>subset of ML</a:t>
            </a:r>
            <a:r>
              <a:rPr lang="en" sz="1600">
                <a:solidFill>
                  <a:schemeClr val="dk1"/>
                </a:solidFill>
              </a:rPr>
              <a:t> that uses </a:t>
            </a:r>
            <a:r>
              <a:rPr b="1" lang="en" sz="1600">
                <a:solidFill>
                  <a:schemeClr val="dk1"/>
                </a:solidFill>
              </a:rPr>
              <a:t>neural networks with many layers</a:t>
            </a:r>
            <a:r>
              <a:rPr lang="en" sz="1600">
                <a:solidFill>
                  <a:schemeClr val="dk1"/>
                </a:solidFill>
              </a:rPr>
              <a:t> to learn patterns from large amounts of data.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Understand concepts: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Neural Networks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Layers and Activations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Gradient Descent (How model learns)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Backward and forward propagations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0013" y="3996173"/>
            <a:ext cx="2319974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 rotWithShape="1">
          <a:blip r:embed="rId4">
            <a:alphaModFix/>
          </a:blip>
          <a:srcRect b="17215" l="0" r="0" t="18977"/>
          <a:stretch/>
        </p:blipFill>
        <p:spPr>
          <a:xfrm>
            <a:off x="3861500" y="3900650"/>
            <a:ext cx="2393900" cy="763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9475" y="1152475"/>
            <a:ext cx="3849875" cy="216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5. Understanding Computer Vision</a:t>
            </a:r>
            <a:endParaRPr b="1" sz="2200"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Key</a:t>
            </a:r>
            <a:r>
              <a:rPr lang="en" sz="1600">
                <a:solidFill>
                  <a:schemeClr val="dk1"/>
                </a:solidFill>
              </a:rPr>
              <a:t> concepts: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Image Processing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Convolutional Neural Network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Image Classification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Imag Segmentation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Object Detection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075" y="3579500"/>
            <a:ext cx="1072775" cy="132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5650" y="1017725"/>
            <a:ext cx="4697155" cy="264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8325" y="3802000"/>
            <a:ext cx="4876800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Computer Vision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525" y="1152475"/>
            <a:ext cx="607361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7"/>
              <a:t>6. Natural Language Processing Basics</a:t>
            </a:r>
            <a:r>
              <a:rPr lang="en"/>
              <a:t> 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Key Concepts: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Text Processing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Language Models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RNN and Transformers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Text Embedding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Sentiment Analysis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Text Generation   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549" y="3935475"/>
            <a:ext cx="1997481" cy="71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8300" y="3518275"/>
            <a:ext cx="3634776" cy="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1" y="1314252"/>
            <a:ext cx="3806550" cy="198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 Fine Tuning</a:t>
            </a:r>
            <a:endParaRPr b="1"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 rotWithShape="1">
          <a:blip r:embed="rId3">
            <a:alphaModFix/>
          </a:blip>
          <a:srcRect b="10330" l="0" r="4379" t="0"/>
          <a:stretch/>
        </p:blipFill>
        <p:spPr>
          <a:xfrm>
            <a:off x="928775" y="1152475"/>
            <a:ext cx="728645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7. </a:t>
            </a:r>
            <a:r>
              <a:rPr b="1" lang="en" sz="2220"/>
              <a:t>Learn Modern AI (LLMs)</a:t>
            </a:r>
            <a:endParaRPr b="1" sz="2220"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400">
                <a:solidFill>
                  <a:schemeClr val="dk1"/>
                </a:solidFill>
              </a:rPr>
              <a:t>Today AI engineering heavily involves:</a:t>
            </a:r>
            <a:endParaRPr sz="6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400">
                <a:solidFill>
                  <a:schemeClr val="dk1"/>
                </a:solidFill>
              </a:rPr>
              <a:t>Large Language Models</a:t>
            </a:r>
            <a:endParaRPr b="1" sz="6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400">
                <a:solidFill>
                  <a:schemeClr val="dk1"/>
                </a:solidFill>
              </a:rPr>
              <a:t>Examples: GPT, Gemini, Claude, Llama, Qwen</a:t>
            </a:r>
            <a:endParaRPr sz="6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400">
                <a:solidFill>
                  <a:schemeClr val="dk1"/>
                </a:solidFill>
              </a:rPr>
              <a:t>Learn:</a:t>
            </a:r>
            <a:endParaRPr sz="64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00">
                <a:solidFill>
                  <a:schemeClr val="dk1"/>
                </a:solidFill>
              </a:rPr>
              <a:t>Prompt engineering (React, Structured O/P)</a:t>
            </a:r>
            <a:br>
              <a:rPr lang="en" sz="6400">
                <a:solidFill>
                  <a:schemeClr val="dk1"/>
                </a:solidFill>
              </a:rPr>
            </a:br>
            <a:endParaRPr sz="64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00">
                <a:solidFill>
                  <a:schemeClr val="dk1"/>
                </a:solidFill>
              </a:rPr>
              <a:t>API usage</a:t>
            </a:r>
            <a:br>
              <a:rPr lang="en" sz="6400">
                <a:solidFill>
                  <a:schemeClr val="dk1"/>
                </a:solidFill>
              </a:rPr>
            </a:br>
            <a:endParaRPr sz="64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00">
                <a:solidFill>
                  <a:schemeClr val="dk1"/>
                </a:solidFill>
              </a:rPr>
              <a:t>Embeddings</a:t>
            </a:r>
            <a:br>
              <a:rPr lang="en" sz="6400">
                <a:solidFill>
                  <a:schemeClr val="dk1"/>
                </a:solidFill>
              </a:rPr>
            </a:br>
            <a:endParaRPr sz="64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00">
                <a:solidFill>
                  <a:schemeClr val="dk1"/>
                </a:solidFill>
              </a:rPr>
              <a:t>Vector databases</a:t>
            </a:r>
            <a:br>
              <a:rPr lang="en" sz="6400">
                <a:solidFill>
                  <a:schemeClr val="dk1"/>
                </a:solidFill>
              </a:rPr>
            </a:br>
            <a:endParaRPr sz="64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400">
                <a:solidFill>
                  <a:schemeClr val="dk1"/>
                </a:solidFill>
              </a:rPr>
              <a:t>RAG (Retrieval Augmented Generation)</a:t>
            </a:r>
            <a:br>
              <a:rPr lang="en" sz="6400">
                <a:solidFill>
                  <a:schemeClr val="dk1"/>
                </a:solidFill>
              </a:rPr>
            </a:br>
            <a:endParaRPr sz="6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113" y="838925"/>
            <a:ext cx="3840573" cy="20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9600" y="2849225"/>
            <a:ext cx="3062349" cy="229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LLM Works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100" y="1450025"/>
            <a:ext cx="4125899" cy="33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272324"/>
            <a:ext cx="4125900" cy="14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6"/>
          <p:cNvSpPr txBox="1"/>
          <p:nvPr/>
        </p:nvSpPr>
        <p:spPr>
          <a:xfrm>
            <a:off x="5567550" y="1450025"/>
            <a:ext cx="1956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LLM Works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8. Working with Agents</a:t>
            </a:r>
            <a:endParaRPr b="1" sz="2200"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Key Concepts: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Autonomy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Function Calling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Tool Usage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Reasoning &amp; Planning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Model Context Protocol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67" name="Google Shape;167;p27"/>
          <p:cNvPicPr preferRelativeResize="0"/>
          <p:nvPr/>
        </p:nvPicPr>
        <p:blipFill rotWithShape="1">
          <a:blip r:embed="rId3">
            <a:alphaModFix/>
          </a:blip>
          <a:srcRect b="27206" l="0" r="0" t="26699"/>
          <a:stretch/>
        </p:blipFill>
        <p:spPr>
          <a:xfrm>
            <a:off x="5029848" y="3757177"/>
            <a:ext cx="2186500" cy="101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7"/>
          <p:cNvPicPr preferRelativeResize="0"/>
          <p:nvPr/>
        </p:nvPicPr>
        <p:blipFill rotWithShape="1">
          <a:blip r:embed="rId4">
            <a:alphaModFix/>
          </a:blip>
          <a:srcRect b="9607" l="0" r="0" t="-14144"/>
          <a:stretch/>
        </p:blipFill>
        <p:spPr>
          <a:xfrm>
            <a:off x="1997370" y="3757176"/>
            <a:ext cx="2708505" cy="101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922475"/>
            <a:ext cx="1545025" cy="84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7"/>
          <p:cNvPicPr preferRelativeResize="0"/>
          <p:nvPr/>
        </p:nvPicPr>
        <p:blipFill rotWithShape="1">
          <a:blip r:embed="rId6">
            <a:alphaModFix/>
          </a:blip>
          <a:srcRect b="0" l="0" r="0" t="24840"/>
          <a:stretch/>
        </p:blipFill>
        <p:spPr>
          <a:xfrm>
            <a:off x="3877300" y="1017725"/>
            <a:ext cx="4002075" cy="207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Working with Agents</a:t>
            </a:r>
            <a:endParaRPr b="1" sz="2220"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3525" y="1152475"/>
            <a:ext cx="5298775" cy="323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8"/>
          <p:cNvSpPr txBox="1"/>
          <p:nvPr/>
        </p:nvSpPr>
        <p:spPr>
          <a:xfrm>
            <a:off x="425325" y="1333125"/>
            <a:ext cx="3108300" cy="30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</a:t>
            </a:r>
            <a:r>
              <a:rPr b="1" lang="en">
                <a:solidFill>
                  <a:schemeClr val="dk1"/>
                </a:solidFill>
              </a:rPr>
              <a:t>LLM = brain</a:t>
            </a:r>
            <a:r>
              <a:rPr lang="en">
                <a:solidFill>
                  <a:schemeClr val="dk1"/>
                </a:solidFill>
              </a:rPr>
              <a:t> - Thinks, reasons, generates text, But </a:t>
            </a:r>
            <a:r>
              <a:rPr b="1" lang="en">
                <a:solidFill>
                  <a:schemeClr val="dk1"/>
                </a:solidFill>
              </a:rPr>
              <a:t>cannot act on its own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Then,</a:t>
            </a:r>
            <a:r>
              <a:rPr b="1" lang="en">
                <a:solidFill>
                  <a:schemeClr val="dk1"/>
                </a:solidFill>
              </a:rPr>
              <a:t> Agent = brain + body + tools + decision-making loop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7"/>
              <a:t>8. MLOps &amp; Production Engineering</a:t>
            </a:r>
            <a:endParaRPr b="1" sz="246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Employers hire engineers who can</a:t>
            </a:r>
            <a:r>
              <a:rPr b="1" lang="en" sz="1600">
                <a:solidFill>
                  <a:schemeClr val="dk1"/>
                </a:solidFill>
              </a:rPr>
              <a:t> ship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reliable AI Systems</a:t>
            </a:r>
            <a:r>
              <a:rPr lang="en" sz="1600">
                <a:solidFill>
                  <a:schemeClr val="dk1"/>
                </a:solidFill>
              </a:rPr>
              <a:t>, not just notebooks..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Understand concepts: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Fastapi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Git and Github/Gitlab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Docker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Model serving, and monitoring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911" y="891275"/>
            <a:ext cx="3093014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825" y="4014338"/>
            <a:ext cx="3503801" cy="83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8124" y="1632837"/>
            <a:ext cx="4214574" cy="221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2" y="3845476"/>
            <a:ext cx="3100173" cy="106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Succeed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8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661">
                <a:solidFill>
                  <a:schemeClr val="dk1"/>
                </a:solidFill>
              </a:rPr>
              <a:t>Be present in the live class</a:t>
            </a:r>
            <a:r>
              <a:rPr lang="en" sz="5661">
                <a:solidFill>
                  <a:schemeClr val="dk1"/>
                </a:solidFill>
              </a:rPr>
              <a:t>. Actively participating will help you stay on track.</a:t>
            </a:r>
            <a:br>
              <a:rPr lang="en" sz="5661">
                <a:solidFill>
                  <a:schemeClr val="dk1"/>
                </a:solidFill>
              </a:rPr>
            </a:br>
            <a:endParaRPr sz="5661">
              <a:solidFill>
                <a:schemeClr val="dk1"/>
              </a:solidFill>
            </a:endParaRPr>
          </a:p>
          <a:p>
            <a:pPr indent="-318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661">
                <a:solidFill>
                  <a:schemeClr val="dk1"/>
                </a:solidFill>
              </a:rPr>
              <a:t>Don’t rely on shortcuts.</a:t>
            </a:r>
            <a:r>
              <a:rPr lang="en" sz="5661">
                <a:solidFill>
                  <a:schemeClr val="dk1"/>
                </a:solidFill>
              </a:rPr>
              <a:t> Focus on learning the fundamentals properly.</a:t>
            </a:r>
            <a:br>
              <a:rPr lang="en" sz="5661">
                <a:solidFill>
                  <a:schemeClr val="dk1"/>
                </a:solidFill>
              </a:rPr>
            </a:br>
            <a:endParaRPr sz="5661">
              <a:solidFill>
                <a:schemeClr val="dk1"/>
              </a:solidFill>
            </a:endParaRPr>
          </a:p>
          <a:p>
            <a:pPr indent="-318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661">
                <a:solidFill>
                  <a:schemeClr val="dk1"/>
                </a:solidFill>
              </a:rPr>
              <a:t>Ask questions.</a:t>
            </a:r>
            <a:r>
              <a:rPr lang="en" sz="5661">
                <a:solidFill>
                  <a:schemeClr val="dk1"/>
                </a:solidFill>
              </a:rPr>
              <a:t> Never hesitate to seek help when you need it.</a:t>
            </a:r>
            <a:br>
              <a:rPr lang="en" sz="5661">
                <a:solidFill>
                  <a:schemeClr val="dk1"/>
                </a:solidFill>
              </a:rPr>
            </a:br>
            <a:endParaRPr sz="5661">
              <a:solidFill>
                <a:schemeClr val="dk1"/>
              </a:solidFill>
            </a:endParaRPr>
          </a:p>
          <a:p>
            <a:pPr indent="-318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661">
                <a:solidFill>
                  <a:schemeClr val="dk1"/>
                </a:solidFill>
              </a:rPr>
              <a:t>Stay consistent</a:t>
            </a:r>
            <a:r>
              <a:rPr lang="en" sz="5661">
                <a:solidFill>
                  <a:schemeClr val="dk1"/>
                </a:solidFill>
              </a:rPr>
              <a:t>. Keep up with the course lessons and follow along.</a:t>
            </a:r>
            <a:br>
              <a:rPr lang="en" sz="5661">
                <a:solidFill>
                  <a:schemeClr val="dk1"/>
                </a:solidFill>
              </a:rPr>
            </a:br>
            <a:endParaRPr sz="5661">
              <a:solidFill>
                <a:schemeClr val="dk1"/>
              </a:solidFill>
            </a:endParaRPr>
          </a:p>
          <a:p>
            <a:pPr indent="-3184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661">
                <a:solidFill>
                  <a:schemeClr val="dk1"/>
                </a:solidFill>
              </a:rPr>
              <a:t>Practice regularly</a:t>
            </a:r>
            <a:r>
              <a:rPr lang="en" sz="5661">
                <a:solidFill>
                  <a:schemeClr val="dk1"/>
                </a:solidFill>
              </a:rPr>
              <a:t>. Practice truly makes perfect.</a:t>
            </a:r>
            <a:endParaRPr sz="566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8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Machine Learning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What is Machine Learning?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Machine learning is a subset of artificial intelligence (AI) that enables systems to</a:t>
            </a:r>
            <a:r>
              <a:rPr b="1" lang="en" sz="1400">
                <a:solidFill>
                  <a:schemeClr val="dk1"/>
                </a:solidFill>
              </a:rPr>
              <a:t> learn from data</a:t>
            </a:r>
            <a:r>
              <a:rPr lang="en" sz="1400">
                <a:solidFill>
                  <a:schemeClr val="dk1"/>
                </a:solidFill>
              </a:rPr>
              <a:t>, </a:t>
            </a:r>
            <a:r>
              <a:rPr b="1" lang="en" sz="1400">
                <a:solidFill>
                  <a:schemeClr val="dk1"/>
                </a:solidFill>
              </a:rPr>
              <a:t>identify patterns</a:t>
            </a:r>
            <a:r>
              <a:rPr lang="en" sz="1400">
                <a:solidFill>
                  <a:schemeClr val="dk1"/>
                </a:solidFill>
              </a:rPr>
              <a:t>, and </a:t>
            </a:r>
            <a:r>
              <a:rPr b="1" lang="en" sz="1400">
                <a:solidFill>
                  <a:schemeClr val="dk1"/>
                </a:solidFill>
              </a:rPr>
              <a:t>make decisions or predictions</a:t>
            </a:r>
            <a:r>
              <a:rPr lang="en" sz="1400">
                <a:solidFill>
                  <a:schemeClr val="dk1"/>
                </a:solidFill>
              </a:rPr>
              <a:t> without being explicitly programmed for every specific rule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Think of it like this: instead of giving the computer exact instructions, you </a:t>
            </a:r>
            <a:r>
              <a:rPr b="1" lang="en" sz="1400">
                <a:solidFill>
                  <a:schemeClr val="dk1"/>
                </a:solidFill>
              </a:rPr>
              <a:t>show it examples</a:t>
            </a:r>
            <a:r>
              <a:rPr lang="en" sz="1400">
                <a:solidFill>
                  <a:schemeClr val="dk1"/>
                </a:solidFill>
              </a:rPr>
              <a:t>, and it figures out the patterns on its own.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Rule-based vs ML System</a:t>
            </a:r>
            <a:endParaRPr/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3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4746" l="0" r="0" t="2014"/>
          <a:stretch/>
        </p:blipFill>
        <p:spPr>
          <a:xfrm>
            <a:off x="987975" y="1101562"/>
            <a:ext cx="7168051" cy="294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2"/>
          <p:cNvSpPr txBox="1"/>
          <p:nvPr/>
        </p:nvSpPr>
        <p:spPr>
          <a:xfrm>
            <a:off x="2461975" y="3880775"/>
            <a:ext cx="514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chemeClr val="hlink"/>
                </a:solidFill>
                <a:hlinkClick r:id="rId5"/>
              </a:rPr>
              <a:t>Rule Based vs ML System Simulation</a:t>
            </a:r>
            <a:endParaRPr sz="2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of Machine Learning</a:t>
            </a:r>
            <a:endParaRPr/>
          </a:p>
        </p:txBody>
      </p:sp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313" y="1075500"/>
            <a:ext cx="607358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Labelled vs Unlabeled Data </a:t>
            </a:r>
            <a:endParaRPr/>
          </a:p>
        </p:txBody>
      </p:sp>
      <p:sp>
        <p:nvSpPr>
          <p:cNvPr id="221" name="Google Shape;22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825" y="1188075"/>
            <a:ext cx="7845372" cy="334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Learning</a:t>
            </a:r>
            <a:endParaRPr/>
          </a:p>
        </p:txBody>
      </p:sp>
      <p:sp>
        <p:nvSpPr>
          <p:cNvPr id="228" name="Google Shape;22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0300" y="1152475"/>
            <a:ext cx="481873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Learning </a:t>
            </a:r>
            <a:endParaRPr/>
          </a:p>
        </p:txBody>
      </p:sp>
      <p:sp>
        <p:nvSpPr>
          <p:cNvPr id="235" name="Google Shape;23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Supervised Learning Applications: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Email spam detection</a:t>
            </a:r>
            <a:r>
              <a:rPr lang="en" sz="1400">
                <a:solidFill>
                  <a:schemeClr val="dk1"/>
                </a:solidFill>
              </a:rPr>
              <a:t> – Classifying emails as spam or not spam.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Predicting house prices</a:t>
            </a:r>
            <a:r>
              <a:rPr lang="en" sz="1400">
                <a:solidFill>
                  <a:schemeClr val="dk1"/>
                </a:solidFill>
              </a:rPr>
              <a:t> – Using features like size, location, and rooms to estimate price.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Medical diagnosis</a:t>
            </a:r>
            <a:r>
              <a:rPr lang="en" sz="1400">
                <a:solidFill>
                  <a:schemeClr val="dk1"/>
                </a:solidFill>
              </a:rPr>
              <a:t> – Predicting diseases from patient symptoms or test results.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Credit scoring</a:t>
            </a:r>
            <a:r>
              <a:rPr lang="en" sz="1400">
                <a:solidFill>
                  <a:schemeClr val="dk1"/>
                </a:solidFill>
              </a:rPr>
              <a:t> – Deciding whether a person should get a loan based on financial history.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Unsupervised Learning</a:t>
            </a:r>
            <a:endParaRPr/>
          </a:p>
        </p:txBody>
      </p:sp>
      <p:sp>
        <p:nvSpPr>
          <p:cNvPr id="241" name="Google Shape;241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9423" y="1152475"/>
            <a:ext cx="4812076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Unsupervised Learning</a:t>
            </a:r>
            <a:endParaRPr/>
          </a:p>
        </p:txBody>
      </p:sp>
      <p:sp>
        <p:nvSpPr>
          <p:cNvPr id="248" name="Google Shape;24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Unsupervised Learning Applications: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Customer segmentation</a:t>
            </a:r>
            <a:r>
              <a:rPr lang="en" sz="1400">
                <a:solidFill>
                  <a:schemeClr val="dk1"/>
                </a:solidFill>
              </a:rPr>
              <a:t> – Grouping customers with similar buying habits for marketing.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Market basket analysis</a:t>
            </a:r>
            <a:r>
              <a:rPr lang="en" sz="1400">
                <a:solidFill>
                  <a:schemeClr val="dk1"/>
                </a:solidFill>
              </a:rPr>
              <a:t> – Finding products that are often bought together (association rules).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Anomaly detection</a:t>
            </a:r>
            <a:r>
              <a:rPr lang="en" sz="1400">
                <a:solidFill>
                  <a:schemeClr val="dk1"/>
                </a:solidFill>
              </a:rPr>
              <a:t> – Detecting unusual patterns, like fraud in transactions.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Document clustering</a:t>
            </a:r>
            <a:r>
              <a:rPr lang="en" sz="1400">
                <a:solidFill>
                  <a:schemeClr val="dk1"/>
                </a:solidFill>
              </a:rPr>
              <a:t> – Organizing news articles or documents into topic-based groups.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vs Unsupervised</a:t>
            </a:r>
            <a:endParaRPr/>
          </a:p>
        </p:txBody>
      </p:sp>
      <p:sp>
        <p:nvSpPr>
          <p:cNvPr id="254" name="Google Shape;25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125" y="1152475"/>
            <a:ext cx="425173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/>
          </a:p>
        </p:txBody>
      </p:sp>
      <p:sp>
        <p:nvSpPr>
          <p:cNvPr id="261" name="Google Shape;26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4650" y="1152475"/>
            <a:ext cx="4948221" cy="341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6250" y="897925"/>
            <a:ext cx="5316892" cy="367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/>
          </a:p>
        </p:txBody>
      </p:sp>
      <p:sp>
        <p:nvSpPr>
          <p:cNvPr id="269" name="Google Shape;269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Reinforcement Learning Applications: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Game playing</a:t>
            </a:r>
            <a:r>
              <a:rPr lang="en" sz="1400">
                <a:solidFill>
                  <a:schemeClr val="dk1"/>
                </a:solidFill>
              </a:rPr>
              <a:t> – Teaching AI to play games like </a:t>
            </a:r>
            <a:r>
              <a:rPr b="1" lang="en" sz="1400">
                <a:solidFill>
                  <a:schemeClr val="dk1"/>
                </a:solidFill>
              </a:rPr>
              <a:t>Chess, Go, or video games</a:t>
            </a:r>
            <a:r>
              <a:rPr lang="en" sz="1400">
                <a:solidFill>
                  <a:schemeClr val="dk1"/>
                </a:solidFill>
              </a:rPr>
              <a:t> (e.g., AlphaGo, OpenAI Five for Dota 2).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Robotics</a:t>
            </a:r>
            <a:r>
              <a:rPr lang="en" sz="1400">
                <a:solidFill>
                  <a:schemeClr val="dk1"/>
                </a:solidFill>
              </a:rPr>
              <a:t> – Teaching robots to </a:t>
            </a:r>
            <a:r>
              <a:rPr b="1" lang="en" sz="1400">
                <a:solidFill>
                  <a:schemeClr val="dk1"/>
                </a:solidFill>
              </a:rPr>
              <a:t>walk, pick objects, or navigate</a:t>
            </a:r>
            <a:r>
              <a:rPr lang="en" sz="1400">
                <a:solidFill>
                  <a:schemeClr val="dk1"/>
                </a:solidFill>
              </a:rPr>
              <a:t> in complex environments.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Recommendation systems</a:t>
            </a:r>
            <a:r>
              <a:rPr lang="en" sz="1400">
                <a:solidFill>
                  <a:schemeClr val="dk1"/>
                </a:solidFill>
              </a:rPr>
              <a:t> – Optimizing recommendations dynamically based on </a:t>
            </a:r>
            <a:r>
              <a:rPr b="1" lang="en" sz="1400">
                <a:solidFill>
                  <a:schemeClr val="dk1"/>
                </a:solidFill>
              </a:rPr>
              <a:t>user interactions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Autonomous vehicles</a:t>
            </a:r>
            <a:r>
              <a:rPr lang="en" sz="1400">
                <a:solidFill>
                  <a:schemeClr val="dk1"/>
                </a:solidFill>
              </a:rPr>
              <a:t> – Training self-driving cars to </a:t>
            </a:r>
            <a:r>
              <a:rPr b="1" lang="en" sz="1400">
                <a:solidFill>
                  <a:schemeClr val="dk1"/>
                </a:solidFill>
              </a:rPr>
              <a:t>make decisions in traffic</a:t>
            </a:r>
            <a:r>
              <a:rPr lang="en" sz="1400">
                <a:solidFill>
                  <a:schemeClr val="dk1"/>
                </a:solidFill>
              </a:rPr>
              <a:t> safely.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Resource management</a:t>
            </a:r>
            <a:r>
              <a:rPr lang="en" sz="1400">
                <a:solidFill>
                  <a:schemeClr val="dk1"/>
                </a:solidFill>
              </a:rPr>
              <a:t> – Optimizing </a:t>
            </a:r>
            <a:r>
              <a:rPr b="1" lang="en" sz="1400">
                <a:solidFill>
                  <a:schemeClr val="dk1"/>
                </a:solidFill>
              </a:rPr>
              <a:t>energy usage or traffic signals</a:t>
            </a:r>
            <a:r>
              <a:rPr lang="en" sz="1400">
                <a:solidFill>
                  <a:schemeClr val="dk1"/>
                </a:solidFill>
              </a:rPr>
              <a:t> for efficiency.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Teaching a Robot how to Walk</a:t>
            </a:r>
            <a:endParaRPr/>
          </a:p>
        </p:txBody>
      </p:sp>
      <p:sp>
        <p:nvSpPr>
          <p:cNvPr id="275" name="Google Shape;275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We trained a quadruped robot to learn how to walk directly in the physical world without simulators. Learning from scratch in only 1 hour was possible by using the Dreamer algorithm to continuously learn a world model and plan inside of it. https://danijar.com/daydreamer" id="276" name="Google Shape;276;p42" title="Learning to Walk in the Real World in 1 Hour (No Simulator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52479"/>
            <a:ext cx="4172250" cy="234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rkour is the perfect sandbox for the Atlas team at Boston Dynamics to experiment with new behaviors. In this video our humanoid robots demonstrate their whole-body athletics, maintaining its balance through a variety of rapidly changing, high-energy activities. Through jumps, balance beams, and vaults, we demonstrate how we push Atlas to its limits to discover the next generation of mobility, perception, and athletic intelligence.&#10;&#10;How does Atlas do parkour? Go behind the scenes in the lab: https://youtu.be/EezdinoG4mk&#10;&#10;Parkour Atlas: https://youtu.be/LikxFZZO2sk&#10;More Parkour Atlas: https://youtu.be/_sBBaNYex3E&#10;&#10;#BostonDynamics #Atlas #Parkour" id="277" name="Google Shape;277;p42" title="Atlas | Partners in Parkour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0030" y="1152475"/>
            <a:ext cx="4172270" cy="23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of Supervised Learning</a:t>
            </a:r>
            <a:endParaRPr/>
          </a:p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75" y="1309987"/>
            <a:ext cx="5907399" cy="310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</a:t>
            </a:r>
            <a:endParaRPr/>
          </a:p>
        </p:txBody>
      </p:sp>
      <p:sp>
        <p:nvSpPr>
          <p:cNvPr id="290" name="Google Shape;290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Classification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Goal:</a:t>
            </a:r>
            <a:r>
              <a:rPr lang="en" sz="1400">
                <a:solidFill>
                  <a:schemeClr val="dk1"/>
                </a:solidFill>
              </a:rPr>
              <a:t> Predict a </a:t>
            </a:r>
            <a:r>
              <a:rPr b="1" lang="en" sz="1400">
                <a:solidFill>
                  <a:schemeClr val="dk1"/>
                </a:solidFill>
              </a:rPr>
              <a:t>category or class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Applications: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Email spam detection (spam or not spam).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Diagnosing diseases (disease A, disease B, or healthy).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Sentiment analysis (positive, negative, neutral).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Handwriting or image recognition (digits, letters, objects).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44"/>
          <p:cNvPicPr preferRelativeResize="0"/>
          <p:nvPr/>
        </p:nvPicPr>
        <p:blipFill rotWithShape="1">
          <a:blip r:embed="rId3">
            <a:alphaModFix/>
          </a:blip>
          <a:srcRect b="0" l="0" r="49375" t="0"/>
          <a:stretch/>
        </p:blipFill>
        <p:spPr>
          <a:xfrm>
            <a:off x="6403450" y="1489250"/>
            <a:ext cx="1968400" cy="216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</a:t>
            </a:r>
            <a:endParaRPr/>
          </a:p>
        </p:txBody>
      </p:sp>
      <p:sp>
        <p:nvSpPr>
          <p:cNvPr id="297" name="Google Shape;29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Regression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Goal:</a:t>
            </a:r>
            <a:r>
              <a:rPr lang="en" sz="1400">
                <a:solidFill>
                  <a:schemeClr val="dk1"/>
                </a:solidFill>
              </a:rPr>
              <a:t> Predict a </a:t>
            </a:r>
            <a:r>
              <a:rPr b="1" lang="en" sz="1400">
                <a:solidFill>
                  <a:schemeClr val="dk1"/>
                </a:solidFill>
              </a:rPr>
              <a:t>continuous number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Applications: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Predicting house prices based on size, location, and rooms.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Forecasting stock prices or sales.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Estimating temperature or weather conditions.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45"/>
          <p:cNvPicPr preferRelativeResize="0"/>
          <p:nvPr/>
        </p:nvPicPr>
        <p:blipFill rotWithShape="1">
          <a:blip r:embed="rId3">
            <a:alphaModFix/>
          </a:blip>
          <a:srcRect b="0" l="50625" r="0" t="0"/>
          <a:stretch/>
        </p:blipFill>
        <p:spPr>
          <a:xfrm>
            <a:off x="6484100" y="1263975"/>
            <a:ext cx="1919875" cy="216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Vs Regression</a:t>
            </a:r>
            <a:endParaRPr/>
          </a:p>
        </p:txBody>
      </p:sp>
      <p:sp>
        <p:nvSpPr>
          <p:cNvPr id="304" name="Google Shape;304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5" name="Google Shape;30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500" y="1152475"/>
            <a:ext cx="7431701" cy="323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and Labels</a:t>
            </a:r>
            <a:endParaRPr/>
          </a:p>
        </p:txBody>
      </p:sp>
      <p:sp>
        <p:nvSpPr>
          <p:cNvPr id="311" name="Google Shape;311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7"/>
          <p:cNvSpPr txBox="1"/>
          <p:nvPr/>
        </p:nvSpPr>
        <p:spPr>
          <a:xfrm>
            <a:off x="465100" y="1152475"/>
            <a:ext cx="3802800" cy="3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Features (Input variables)</a:t>
            </a:r>
            <a:endParaRPr b="1" sz="16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Features</a:t>
            </a:r>
            <a:r>
              <a:rPr lang="en" sz="1200">
                <a:solidFill>
                  <a:schemeClr val="dk1"/>
                </a:solidFill>
              </a:rPr>
              <a:t> are the </a:t>
            </a:r>
            <a:r>
              <a:rPr b="1" lang="en" sz="1200">
                <a:solidFill>
                  <a:schemeClr val="dk1"/>
                </a:solidFill>
              </a:rPr>
              <a:t>input data</a:t>
            </a:r>
            <a:r>
              <a:rPr lang="en" sz="1200">
                <a:solidFill>
                  <a:schemeClr val="dk1"/>
                </a:solidFill>
              </a:rPr>
              <a:t> used to make predictions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They describe the </a:t>
            </a:r>
            <a:r>
              <a:rPr b="1" lang="en" sz="1200">
                <a:solidFill>
                  <a:schemeClr val="dk1"/>
                </a:solidFill>
              </a:rPr>
              <a:t>properties or characteristics</a:t>
            </a:r>
            <a:r>
              <a:rPr lang="en" sz="1200">
                <a:solidFill>
                  <a:schemeClr val="dk1"/>
                </a:solidFill>
              </a:rPr>
              <a:t> of each example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Usually denoted as </a:t>
            </a:r>
            <a:r>
              <a:rPr b="1" lang="en" sz="1200">
                <a:solidFill>
                  <a:schemeClr val="dk1"/>
                </a:solidFill>
              </a:rPr>
              <a:t>X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📌 Example: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If you're predicting house prices: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Size (sq ft)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Number of bedrooms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Location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➡️These are </a:t>
            </a:r>
            <a:r>
              <a:rPr b="1" lang="en" sz="1200">
                <a:solidFill>
                  <a:schemeClr val="dk1"/>
                </a:solidFill>
              </a:rPr>
              <a:t>features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3" name="Google Shape;313;p47"/>
          <p:cNvSpPr txBox="1"/>
          <p:nvPr/>
        </p:nvSpPr>
        <p:spPr>
          <a:xfrm>
            <a:off x="4762400" y="1152475"/>
            <a:ext cx="3802800" cy="3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Labels (Target / Output)</a:t>
            </a:r>
            <a:endParaRPr b="1" sz="16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Labels</a:t>
            </a:r>
            <a:r>
              <a:rPr lang="en" sz="1200">
                <a:solidFill>
                  <a:schemeClr val="dk1"/>
                </a:solidFill>
              </a:rPr>
              <a:t> are the </a:t>
            </a:r>
            <a:r>
              <a:rPr b="1" lang="en" sz="1200">
                <a:solidFill>
                  <a:schemeClr val="dk1"/>
                </a:solidFill>
              </a:rPr>
              <a:t>correct answers</a:t>
            </a:r>
            <a:r>
              <a:rPr lang="en" sz="1200">
                <a:solidFill>
                  <a:schemeClr val="dk1"/>
                </a:solidFill>
              </a:rPr>
              <a:t> you want the model to learn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They represent what you're trying to predict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Usually denoted as </a:t>
            </a:r>
            <a:r>
              <a:rPr b="1" lang="en" sz="1200">
                <a:solidFill>
                  <a:schemeClr val="dk1"/>
                </a:solidFill>
              </a:rPr>
              <a:t>y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📌 Example: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House price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➡️This is the </a:t>
            </a:r>
            <a:r>
              <a:rPr b="1" lang="en" sz="1200">
                <a:solidFill>
                  <a:schemeClr val="dk1"/>
                </a:solidFill>
              </a:rPr>
              <a:t>label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Labels </a:t>
            </a:r>
            <a:r>
              <a:rPr lang="en" sz="1200">
                <a:solidFill>
                  <a:schemeClr val="dk1"/>
                </a:solidFill>
              </a:rPr>
              <a:t>are also called</a:t>
            </a:r>
            <a:r>
              <a:rPr b="1" lang="en" sz="1200">
                <a:solidFill>
                  <a:schemeClr val="dk1"/>
                </a:solidFill>
              </a:rPr>
              <a:t> “targets”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and Labels</a:t>
            </a:r>
            <a:endParaRPr/>
          </a:p>
        </p:txBody>
      </p:sp>
      <p:sp>
        <p:nvSpPr>
          <p:cNvPr id="319" name="Google Shape;319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Regression</a:t>
            </a:r>
            <a:r>
              <a:rPr b="1" lang="en">
                <a:solidFill>
                  <a:schemeClr val="dk1"/>
                </a:solidFill>
              </a:rPr>
              <a:t> Dataset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0" name="Google Shape;320;p48"/>
          <p:cNvPicPr preferRelativeResize="0"/>
          <p:nvPr/>
        </p:nvPicPr>
        <p:blipFill rotWithShape="1">
          <a:blip r:embed="rId3">
            <a:alphaModFix/>
          </a:blip>
          <a:srcRect b="0" l="0" r="13285" t="0"/>
          <a:stretch/>
        </p:blipFill>
        <p:spPr>
          <a:xfrm>
            <a:off x="2612800" y="1527125"/>
            <a:ext cx="4418474" cy="266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Features and Labels</a:t>
            </a:r>
            <a:endParaRPr/>
          </a:p>
        </p:txBody>
      </p:sp>
      <p:sp>
        <p:nvSpPr>
          <p:cNvPr id="326" name="Google Shape;326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Classification Dataset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327" name="Google Shape;327;p49"/>
          <p:cNvPicPr preferRelativeResize="0"/>
          <p:nvPr/>
        </p:nvPicPr>
        <p:blipFill rotWithShape="1">
          <a:blip r:embed="rId3">
            <a:alphaModFix/>
          </a:blip>
          <a:srcRect b="0" l="3608" r="39301" t="0"/>
          <a:stretch/>
        </p:blipFill>
        <p:spPr>
          <a:xfrm>
            <a:off x="2886375" y="1492300"/>
            <a:ext cx="3926025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Features and Labels</a:t>
            </a:r>
            <a:endParaRPr/>
          </a:p>
        </p:txBody>
      </p:sp>
      <p:sp>
        <p:nvSpPr>
          <p:cNvPr id="333" name="Google Shape;333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4" name="Google Shape;334;p50"/>
          <p:cNvPicPr preferRelativeResize="0"/>
          <p:nvPr/>
        </p:nvPicPr>
        <p:blipFill rotWithShape="1">
          <a:blip r:embed="rId3">
            <a:alphaModFix/>
          </a:blip>
          <a:srcRect b="0" l="36053" r="0" t="0"/>
          <a:stretch/>
        </p:blipFill>
        <p:spPr>
          <a:xfrm>
            <a:off x="2960025" y="1302388"/>
            <a:ext cx="4373052" cy="3116574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0"/>
          <p:cNvSpPr txBox="1"/>
          <p:nvPr/>
        </p:nvSpPr>
        <p:spPr>
          <a:xfrm>
            <a:off x="574550" y="1409000"/>
            <a:ext cx="2133900" cy="20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 this image, what are the features and what is the label?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Data</a:t>
            </a:r>
            <a:endParaRPr/>
          </a:p>
        </p:txBody>
      </p:sp>
      <p:sp>
        <p:nvSpPr>
          <p:cNvPr id="341" name="Google Shape;341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51"/>
          <p:cNvSpPr txBox="1"/>
          <p:nvPr/>
        </p:nvSpPr>
        <p:spPr>
          <a:xfrm>
            <a:off x="4944600" y="1428750"/>
            <a:ext cx="3669900" cy="31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2️⃣ Based on Data Type (Values)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is about </a:t>
            </a:r>
            <a:r>
              <a:rPr b="1" lang="en">
                <a:solidFill>
                  <a:schemeClr val="dk1"/>
                </a:solidFill>
              </a:rPr>
              <a:t>what kind of values the data contains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Numerical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Continuous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Discrete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Categorical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Nominal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Ordinal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43" name="Google Shape;343;p51"/>
          <p:cNvSpPr txBox="1"/>
          <p:nvPr/>
        </p:nvSpPr>
        <p:spPr>
          <a:xfrm>
            <a:off x="572575" y="1498800"/>
            <a:ext cx="3669900" cy="31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1️⃣ Based on Structure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is about </a:t>
            </a:r>
            <a:r>
              <a:rPr b="1" lang="en">
                <a:solidFill>
                  <a:schemeClr val="dk1"/>
                </a:solidFill>
              </a:rPr>
              <a:t>how data is stored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Structured data</a:t>
            </a:r>
            <a:r>
              <a:rPr lang="en">
                <a:solidFill>
                  <a:schemeClr val="dk1"/>
                </a:solidFill>
              </a:rPr>
              <a:t> → tables (rows &amp; columns)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Unstructured data</a:t>
            </a:r>
            <a:r>
              <a:rPr lang="en">
                <a:solidFill>
                  <a:schemeClr val="dk1"/>
                </a:solidFill>
              </a:rPr>
              <a:t> → text, images</a:t>
            </a:r>
            <a:r>
              <a:rPr lang="en">
                <a:solidFill>
                  <a:schemeClr val="dk2"/>
                </a:solidFill>
              </a:rPr>
              <a:t>, </a:t>
            </a:r>
            <a:r>
              <a:rPr lang="en">
                <a:solidFill>
                  <a:schemeClr val="dk1"/>
                </a:solidFill>
              </a:rPr>
              <a:t>audio, video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Semi-structured data</a:t>
            </a:r>
            <a:r>
              <a:rPr lang="en">
                <a:solidFill>
                  <a:schemeClr val="dk1"/>
                </a:solidFill>
              </a:rPr>
              <a:t> → JSON, XML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ML vs Deep Learning</a:t>
            </a:r>
            <a:endParaRPr/>
          </a:p>
        </p:txBody>
      </p:sp>
      <p:sp>
        <p:nvSpPr>
          <p:cNvPr id="349" name="Google Shape;349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0" name="Google Shape;35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625" y="1152475"/>
            <a:ext cx="6996756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7" name="Google Shape;35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0850" y="1152475"/>
            <a:ext cx="4982288" cy="32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Types of Data k21academy</a:t>
            </a:r>
            <a:endParaRPr/>
          </a:p>
        </p:txBody>
      </p:sp>
      <p:pic>
        <p:nvPicPr>
          <p:cNvPr id="364" name="Google Shape;36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500" y="1286300"/>
            <a:ext cx="4831798" cy="3762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Structured Data</a:t>
            </a:r>
            <a:endParaRPr/>
          </a:p>
        </p:txBody>
      </p:sp>
      <p:sp>
        <p:nvSpPr>
          <p:cNvPr id="370" name="Google Shape;370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1" name="Google Shape;37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1849" y="1418100"/>
            <a:ext cx="4936450" cy="315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Unstructured</a:t>
            </a:r>
            <a:r>
              <a:rPr lang="en"/>
              <a:t> Data</a:t>
            </a:r>
            <a:endParaRPr/>
          </a:p>
        </p:txBody>
      </p:sp>
      <p:sp>
        <p:nvSpPr>
          <p:cNvPr id="377" name="Google Shape;377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8" name="Google Shape;37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9075" y="1152475"/>
            <a:ext cx="5246999" cy="327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385" name="Google Shape;385;p57"/>
          <p:cNvSpPr txBox="1"/>
          <p:nvPr/>
        </p:nvSpPr>
        <p:spPr>
          <a:xfrm>
            <a:off x="2313950" y="2237250"/>
            <a:ext cx="42192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200">
                <a:solidFill>
                  <a:schemeClr val="dk1"/>
                </a:solidFill>
              </a:rPr>
              <a:t>Thank you!</a:t>
            </a:r>
            <a:endParaRPr sz="3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