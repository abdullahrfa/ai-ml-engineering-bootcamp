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5143500" cx="9144000"/>
  <p:notesSz cx="6858000" cy="9144000"/>
  <p:embeddedFontLst>
    <p:embeddedFont>
      <p:font typeface="Roboto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.fntdata"/><Relationship Id="rId20" Type="http://schemas.openxmlformats.org/officeDocument/2006/relationships/slide" Target="slides/slide14.xml"/><Relationship Id="rId42" Type="http://schemas.openxmlformats.org/officeDocument/2006/relationships/font" Target="fonts/Roboto-boldItalic.fntdata"/><Relationship Id="rId41" Type="http://schemas.openxmlformats.org/officeDocument/2006/relationships/font" Target="fonts/Roboto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Roboto-regular.fntdata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7e2ab4c7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7e2ab4c7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8061788b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8061788b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7463a2f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7463a2f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7463a2ff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e7463a2ff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7463a2ff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e7463a2ff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8061788b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e8061788b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8061788b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e8061788b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8061788b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e8061788b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8061788be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8061788b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8061788b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e8061788b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8061788be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e8061788b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8061788be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e8061788be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7e2ab4c77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f7e2ab4c77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8061788be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e8061788be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7e2ab4c77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f7e2ab4c77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7e2ab4c77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f7e2ab4c77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7e2ab4c77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f7e2ab4c77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7e2ab4c77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f7e2ab4c77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7e2ab4c77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f7e2ab4c77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8061788be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e8061788be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7e2ab4c77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f7e2ab4c77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7e2ab4c77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f7e2ab4c77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7e2ab4c77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f7e2ab4c77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7e2ab4c77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f7e2ab4c77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7e2ab4c77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f7e2ab4c77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7e2ab4c77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f7e2ab4c77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f7e2ab4c77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f7e2ab4c77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7e2ab4c77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f7e2ab4c77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f7e2ab4c77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f7e2ab4c77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7e2ab4c77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f7e2ab4c77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e8061788be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e8061788be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e8061788be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e8061788be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1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Relationship Id="rId4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Relationship Id="rId4" Type="http://schemas.openxmlformats.org/officeDocument/2006/relationships/image" Target="../media/image3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image" Target="../media/image3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311700" y="971250"/>
            <a:ext cx="85206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/>
              <a:t>Hierarchical Clustering and DBSCAN</a:t>
            </a:r>
            <a:endParaRPr sz="3600"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874275" y="2920375"/>
            <a:ext cx="2866200" cy="19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2200">
                <a:solidFill>
                  <a:schemeClr val="dk1"/>
                </a:solidFill>
              </a:rPr>
              <a:t>Instructor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200">
                <a:solidFill>
                  <a:schemeClr val="dk1"/>
                </a:solidFill>
              </a:rPr>
              <a:t>Abdullah Saihan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200">
                <a:solidFill>
                  <a:schemeClr val="dk1"/>
                </a:solidFill>
              </a:rPr>
              <a:t>AI Engineer, 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400"/>
          </a:p>
        </p:txBody>
      </p:sp>
      <p:pic>
        <p:nvPicPr>
          <p:cNvPr id="101" name="Google Shape;10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275" y="4004800"/>
            <a:ext cx="1620500" cy="5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6"/>
          <p:cNvSpPr txBox="1"/>
          <p:nvPr/>
        </p:nvSpPr>
        <p:spPr>
          <a:xfrm>
            <a:off x="446925" y="1323450"/>
            <a:ext cx="3280200" cy="22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Hierarchical clustering is an unsupervised machine learning method that groups data points into a tree-like hierarchy of clusters based on their similarity </a:t>
            </a:r>
            <a:endParaRPr sz="2000">
              <a:solidFill>
                <a:schemeClr val="dk2"/>
              </a:solidFill>
            </a:endParaRPr>
          </a:p>
        </p:txBody>
      </p:sp>
      <p:pic>
        <p:nvPicPr>
          <p:cNvPr id="109" name="Google Shape;10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7125" y="1559037"/>
            <a:ext cx="4934927" cy="174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2750" y="1152475"/>
            <a:ext cx="683280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1300" y="1152475"/>
            <a:ext cx="466535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8990" y="1291399"/>
            <a:ext cx="6737885" cy="313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3611" y="1152475"/>
            <a:ext cx="3097741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0"/>
          <p:cNvSpPr txBox="1"/>
          <p:nvPr/>
        </p:nvSpPr>
        <p:spPr>
          <a:xfrm>
            <a:off x="438950" y="1165800"/>
            <a:ext cx="34881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1E293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Step 1</a:t>
            </a:r>
            <a:endParaRPr sz="1800">
              <a:solidFill>
                <a:srgbClr val="1E293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3341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First, make each data point a “single - cluster,” which forms N clusters. (let’s assume there are N numbers of clusters).</a:t>
            </a:r>
            <a:endParaRPr sz="1800">
              <a:solidFill>
                <a:srgbClr val="33415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31"/>
          <p:cNvSpPr txBox="1"/>
          <p:nvPr/>
        </p:nvSpPr>
        <p:spPr>
          <a:xfrm>
            <a:off x="438950" y="1165800"/>
            <a:ext cx="34881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E293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Step 2 </a:t>
            </a:r>
            <a:endParaRPr sz="1800">
              <a:solidFill>
                <a:srgbClr val="1E293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41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Take the next two closest data points and make them one cluster; now, it forms </a:t>
            </a:r>
            <a:r>
              <a:rPr b="1" lang="en" sz="1800">
                <a:solidFill>
                  <a:srgbClr val="3341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N-1 clusters</a:t>
            </a:r>
            <a:r>
              <a:rPr lang="en" sz="1800">
                <a:solidFill>
                  <a:srgbClr val="3341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800">
              <a:solidFill>
                <a:srgbClr val="33415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93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46" name="Google Shape;14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7947" y="1152475"/>
            <a:ext cx="2958077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2"/>
          <p:cNvSpPr txBox="1"/>
          <p:nvPr/>
        </p:nvSpPr>
        <p:spPr>
          <a:xfrm>
            <a:off x="438950" y="1165800"/>
            <a:ext cx="34881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E293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Step 3</a:t>
            </a:r>
            <a:endParaRPr sz="1800">
              <a:solidFill>
                <a:srgbClr val="1E293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41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Again, take the two clusters and make them one cluster; now, it forms N-2 clusters.</a:t>
            </a:r>
            <a:endParaRPr sz="1800">
              <a:solidFill>
                <a:srgbClr val="33415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93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93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54" name="Google Shape;15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7297" y="1159150"/>
            <a:ext cx="3287503" cy="340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33"/>
          <p:cNvSpPr txBox="1"/>
          <p:nvPr/>
        </p:nvSpPr>
        <p:spPr>
          <a:xfrm>
            <a:off x="438950" y="1165800"/>
            <a:ext cx="34881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E293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Step 4</a:t>
            </a:r>
            <a:endParaRPr sz="1800">
              <a:solidFill>
                <a:srgbClr val="1E293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41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Repeat ‘Step 3’ until you are left with </a:t>
            </a:r>
            <a:r>
              <a:rPr b="1" lang="en" sz="1800">
                <a:solidFill>
                  <a:srgbClr val="3341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only one cluster</a:t>
            </a:r>
            <a:r>
              <a:rPr lang="en" sz="1800">
                <a:solidFill>
                  <a:srgbClr val="3341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800">
              <a:solidFill>
                <a:srgbClr val="33415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93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93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93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62" name="Google Shape;16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6076" y="1165800"/>
            <a:ext cx="3219398" cy="341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2475" y="1152475"/>
            <a:ext cx="5513601" cy="316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4"/>
          <p:cNvSpPr txBox="1"/>
          <p:nvPr/>
        </p:nvSpPr>
        <p:spPr>
          <a:xfrm>
            <a:off x="311700" y="1152475"/>
            <a:ext cx="2986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41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Once all the clusters are combined into a big cluster. We develop the Dendrogram to divide the clusters.</a:t>
            </a:r>
            <a:r>
              <a:rPr lang="en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1725" y="1152475"/>
            <a:ext cx="6044001" cy="326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DBSCAN</a:t>
            </a:r>
            <a:endParaRPr/>
          </a:p>
        </p:txBody>
      </p:sp>
      <p:sp>
        <p:nvSpPr>
          <p:cNvPr id="183" name="Google Shape;183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In the </a:t>
            </a:r>
            <a:r>
              <a:rPr b="1" lang="en" sz="1400">
                <a:solidFill>
                  <a:schemeClr val="dk1"/>
                </a:solidFill>
              </a:rPr>
              <a:t>DBSCAN</a:t>
            </a:r>
            <a:r>
              <a:rPr lang="en" sz="1400">
                <a:solidFill>
                  <a:schemeClr val="dk1"/>
                </a:solidFill>
              </a:rPr>
              <a:t> (Density-Based Spatial Clustering of Applications with Noise) algorithm, data points are classified into specific categories based on how tightly packed they are with their neighbors.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To determine the classification of a point, DBSCAN relies on two key hyperparameters: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ɛ(Epsilon):</a:t>
            </a:r>
            <a:r>
              <a:rPr lang="en" sz="1400">
                <a:solidFill>
                  <a:schemeClr val="dk1"/>
                </a:solidFill>
              </a:rPr>
              <a:t> The maximum radius of the neighborhood around a point.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MinPts:</a:t>
            </a:r>
            <a:r>
              <a:rPr lang="en" sz="1400">
                <a:solidFill>
                  <a:schemeClr val="dk1"/>
                </a:solidFill>
              </a:rPr>
              <a:t> The minimum number of points required within the </a:t>
            </a:r>
            <a:r>
              <a:rPr b="1" lang="en" sz="1400">
                <a:solidFill>
                  <a:schemeClr val="dk1"/>
                </a:solidFill>
              </a:rPr>
              <a:t>ɛ</a:t>
            </a:r>
            <a:r>
              <a:rPr lang="en" sz="1400">
                <a:solidFill>
                  <a:schemeClr val="dk1"/>
                </a:solidFill>
              </a:rPr>
              <a:t>-neighborhood to form a dense region.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0" name="Google Shape;19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9300" y="1152476"/>
            <a:ext cx="6975875" cy="260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8"/>
          <p:cNvSpPr txBox="1"/>
          <p:nvPr/>
        </p:nvSpPr>
        <p:spPr>
          <a:xfrm>
            <a:off x="130000" y="540925"/>
            <a:ext cx="74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8" name="Google Shape;198;p38"/>
          <p:cNvSpPr txBox="1"/>
          <p:nvPr/>
        </p:nvSpPr>
        <p:spPr>
          <a:xfrm>
            <a:off x="311700" y="1245325"/>
            <a:ext cx="3051900" cy="3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1. Core Point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2. Non-Core Points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Border / Adjacent Point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Outlier / Noise Point 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99" name="Google Shape;19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5150" y="1152475"/>
            <a:ext cx="5037139" cy="3358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Raw Data</a:t>
            </a:r>
            <a:endParaRPr/>
          </a:p>
        </p:txBody>
      </p:sp>
      <p:sp>
        <p:nvSpPr>
          <p:cNvPr id="205" name="Google Shape;205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6" name="Google Shape;20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9475" y="1157613"/>
            <a:ext cx="4662825" cy="282827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9"/>
          <p:cNvSpPr txBox="1"/>
          <p:nvPr/>
        </p:nvSpPr>
        <p:spPr>
          <a:xfrm>
            <a:off x="311700" y="1510975"/>
            <a:ext cx="3367200" cy="30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We start with a dataset containing unlabeled points.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No information about the number of clusters is required.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</a:t>
            </a:r>
            <a:r>
              <a:rPr lang="en"/>
              <a:t> pick a random point</a:t>
            </a:r>
            <a:endParaRPr/>
          </a:p>
        </p:txBody>
      </p:sp>
      <p:sp>
        <p:nvSpPr>
          <p:cNvPr id="213" name="Google Shape;213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4" name="Google Shape;21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2625" y="1234550"/>
            <a:ext cx="4547600" cy="266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40"/>
          <p:cNvSpPr txBox="1"/>
          <p:nvPr/>
        </p:nvSpPr>
        <p:spPr>
          <a:xfrm>
            <a:off x="424175" y="1521075"/>
            <a:ext cx="3778500" cy="3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1600">
                <a:solidFill>
                  <a:schemeClr val="dk1"/>
                </a:solidFill>
              </a:rPr>
              <a:t>Pick any point in the dataset.</a:t>
            </a:r>
            <a:endParaRPr sz="16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1600">
                <a:solidFill>
                  <a:schemeClr val="dk1"/>
                </a:solidFill>
              </a:rPr>
              <a:t>Draw a circle around it.</a:t>
            </a:r>
            <a:endParaRPr sz="16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1600">
                <a:solidFill>
                  <a:schemeClr val="dk1"/>
                </a:solidFill>
              </a:rPr>
              <a:t>The radius of the circle is </a:t>
            </a:r>
            <a:r>
              <a:rPr b="1" lang="en" sz="1600">
                <a:solidFill>
                  <a:schemeClr val="dk1"/>
                </a:solidFill>
              </a:rPr>
              <a:t>ε (epsilon)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" sz="1600">
                <a:solidFill>
                  <a:schemeClr val="dk1"/>
                </a:solidFill>
              </a:rPr>
              <a:t>ε</a:t>
            </a:r>
            <a:r>
              <a:rPr lang="en" sz="1600">
                <a:solidFill>
                  <a:schemeClr val="dk1"/>
                </a:solidFill>
              </a:rPr>
              <a:t> is a user-defined hyperparameter that determines the neighborhood size.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Neighborhood Points (Close Points)</a:t>
            </a:r>
            <a:endParaRPr/>
          </a:p>
        </p:txBody>
      </p:sp>
      <p:sp>
        <p:nvSpPr>
          <p:cNvPr id="221" name="Google Shape;221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2" name="Google Shape;22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1075" y="1152475"/>
            <a:ext cx="4671226" cy="2718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41"/>
          <p:cNvSpPr txBox="1"/>
          <p:nvPr/>
        </p:nvSpPr>
        <p:spPr>
          <a:xfrm>
            <a:off x="455425" y="1501225"/>
            <a:ext cx="3637500" cy="27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Repeat these process for every point.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Draw an </a:t>
            </a:r>
            <a:r>
              <a:rPr b="1" lang="en" sz="1600">
                <a:solidFill>
                  <a:schemeClr val="dk1"/>
                </a:solidFill>
              </a:rPr>
              <a:t>ε-neighborhood</a:t>
            </a:r>
            <a:r>
              <a:rPr lang="en" sz="1600">
                <a:solidFill>
                  <a:schemeClr val="dk1"/>
                </a:solidFill>
              </a:rPr>
              <a:t> around each point.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Count how many points lie inside each neighborhood.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These are called the point's </a:t>
            </a:r>
            <a:r>
              <a:rPr b="1" lang="en" sz="1600">
                <a:solidFill>
                  <a:schemeClr val="dk1"/>
                </a:solidFill>
              </a:rPr>
              <a:t>neighbors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vs Non-Core Points</a:t>
            </a:r>
            <a:endParaRPr/>
          </a:p>
        </p:txBody>
      </p:sp>
      <p:sp>
        <p:nvSpPr>
          <p:cNvPr id="229" name="Google Shape;229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42"/>
          <p:cNvSpPr txBox="1"/>
          <p:nvPr/>
        </p:nvSpPr>
        <p:spPr>
          <a:xfrm>
            <a:off x="465100" y="1326925"/>
            <a:ext cx="4004100" cy="3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Choose another hyperparameter called </a:t>
            </a:r>
            <a:r>
              <a:rPr b="1" lang="en" sz="1600">
                <a:solidFill>
                  <a:schemeClr val="dk1"/>
                </a:solidFill>
              </a:rPr>
              <a:t>MinPts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For every point: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If the number of neighbors (including the point itself) is </a:t>
            </a:r>
            <a:r>
              <a:rPr b="1" lang="en" sz="1600">
                <a:solidFill>
                  <a:schemeClr val="dk1"/>
                </a:solidFill>
              </a:rPr>
              <a:t>≥ MinPts</a:t>
            </a:r>
            <a:r>
              <a:rPr lang="en" sz="1600">
                <a:solidFill>
                  <a:schemeClr val="dk1"/>
                </a:solidFill>
              </a:rPr>
              <a:t>, it is a </a:t>
            </a:r>
            <a:r>
              <a:rPr b="1" lang="en" sz="1600">
                <a:solidFill>
                  <a:schemeClr val="dk1"/>
                </a:solidFill>
              </a:rPr>
              <a:t>Core Point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Otherwise, it is </a:t>
            </a:r>
            <a:r>
              <a:rPr b="1" lang="en" sz="1600">
                <a:solidFill>
                  <a:schemeClr val="dk1"/>
                </a:solidFill>
              </a:rPr>
              <a:t>not a Core Point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31" name="Google Shape;23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0868" y="1224988"/>
            <a:ext cx="3865984" cy="327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Border vs Noise Points</a:t>
            </a:r>
            <a:endParaRPr/>
          </a:p>
        </p:txBody>
      </p:sp>
      <p:sp>
        <p:nvSpPr>
          <p:cNvPr id="237" name="Google Shape;237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275" y="1200298"/>
            <a:ext cx="5002024" cy="270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43"/>
          <p:cNvSpPr txBox="1"/>
          <p:nvPr/>
        </p:nvSpPr>
        <p:spPr>
          <a:xfrm>
            <a:off x="410375" y="1326925"/>
            <a:ext cx="3283200" cy="27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For every </a:t>
            </a:r>
            <a:r>
              <a:rPr b="1" lang="en" sz="1600">
                <a:solidFill>
                  <a:schemeClr val="dk1"/>
                </a:solidFill>
              </a:rPr>
              <a:t>non-core point</a:t>
            </a:r>
            <a:r>
              <a:rPr lang="en" sz="1600">
                <a:solidFill>
                  <a:schemeClr val="dk1"/>
                </a:solidFill>
              </a:rPr>
              <a:t>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If it lies inside the ε-neighborhood of at least one </a:t>
            </a:r>
            <a:r>
              <a:rPr b="1" lang="en" sz="1600">
                <a:solidFill>
                  <a:schemeClr val="dk1"/>
                </a:solidFill>
              </a:rPr>
              <a:t>Core Point</a:t>
            </a:r>
            <a:r>
              <a:rPr lang="en" sz="1600">
                <a:solidFill>
                  <a:schemeClr val="dk1"/>
                </a:solidFill>
              </a:rPr>
              <a:t>, it is a </a:t>
            </a:r>
            <a:r>
              <a:rPr b="1" lang="en" sz="1600">
                <a:solidFill>
                  <a:schemeClr val="dk1"/>
                </a:solidFill>
              </a:rPr>
              <a:t>Border Point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Otherwise, it is considered </a:t>
            </a:r>
            <a:r>
              <a:rPr b="1" lang="en" sz="1600">
                <a:solidFill>
                  <a:schemeClr val="dk1"/>
                </a:solidFill>
              </a:rPr>
              <a:t>Noise (Outlier)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6" name="Google Shape;24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2663" y="1152475"/>
            <a:ext cx="6524625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3" name="Google Shape;25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5725" y="1152475"/>
            <a:ext cx="5336450" cy="327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45"/>
          <p:cNvSpPr txBox="1"/>
          <p:nvPr/>
        </p:nvSpPr>
        <p:spPr>
          <a:xfrm>
            <a:off x="478775" y="1504750"/>
            <a:ext cx="2913900" cy="13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For each data point decide if it is a core point or non-core point.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 Clusters </a:t>
            </a:r>
            <a:endParaRPr/>
          </a:p>
        </p:txBody>
      </p:sp>
      <p:sp>
        <p:nvSpPr>
          <p:cNvPr id="260" name="Google Shape;260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1200" y="2848755"/>
            <a:ext cx="2735100" cy="172012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46"/>
          <p:cNvSpPr txBox="1"/>
          <p:nvPr/>
        </p:nvSpPr>
        <p:spPr>
          <a:xfrm>
            <a:off x="492475" y="1326925"/>
            <a:ext cx="3349500" cy="25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Start from any </a:t>
            </a:r>
            <a:r>
              <a:rPr b="1" lang="en" sz="1600">
                <a:solidFill>
                  <a:schemeClr val="dk1"/>
                </a:solidFill>
              </a:rPr>
              <a:t>Core Point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Add all points within its ε-neighborhood.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If any of those points are also </a:t>
            </a:r>
            <a:r>
              <a:rPr b="1" lang="en" sz="1600">
                <a:solidFill>
                  <a:schemeClr val="dk1"/>
                </a:solidFill>
              </a:rPr>
              <a:t>Core Points</a:t>
            </a:r>
            <a:r>
              <a:rPr lang="en" sz="1600">
                <a:solidFill>
                  <a:schemeClr val="dk1"/>
                </a:solidFill>
              </a:rPr>
              <a:t>, expand from them as well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63" name="Google Shape;263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1800" y="1152475"/>
            <a:ext cx="2793900" cy="1760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Form Clusters </a:t>
            </a:r>
            <a:endParaRPr/>
          </a:p>
        </p:txBody>
      </p:sp>
      <p:sp>
        <p:nvSpPr>
          <p:cNvPr id="269" name="Google Shape;269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0" name="Google Shape;27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3250" y="1453400"/>
            <a:ext cx="7204426" cy="253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47"/>
          <p:cNvSpPr txBox="1"/>
          <p:nvPr/>
        </p:nvSpPr>
        <p:spPr>
          <a:xfrm>
            <a:off x="492475" y="1299550"/>
            <a:ext cx="2544300" cy="30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Form Clusters </a:t>
            </a:r>
            <a:endParaRPr/>
          </a:p>
        </p:txBody>
      </p:sp>
      <p:sp>
        <p:nvSpPr>
          <p:cNvPr id="277" name="Google Shape;277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8" name="Google Shape;27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7563" y="1196575"/>
            <a:ext cx="2373836" cy="1480549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48"/>
          <p:cNvSpPr txBox="1"/>
          <p:nvPr/>
        </p:nvSpPr>
        <p:spPr>
          <a:xfrm>
            <a:off x="414375" y="1312550"/>
            <a:ext cx="5701500" cy="12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Continue until no more reachable core points exist.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Unlike </a:t>
            </a:r>
            <a:r>
              <a:rPr b="1" i="1" lang="en" sz="1600">
                <a:solidFill>
                  <a:schemeClr val="dk1"/>
                </a:solidFill>
              </a:rPr>
              <a:t>Core Points</a:t>
            </a:r>
            <a:r>
              <a:rPr lang="en" sz="1600">
                <a:solidFill>
                  <a:schemeClr val="dk1"/>
                </a:solidFill>
              </a:rPr>
              <a:t>, </a:t>
            </a:r>
            <a:r>
              <a:rPr b="1" i="1" lang="en" sz="1600">
                <a:solidFill>
                  <a:schemeClr val="dk1"/>
                </a:solidFill>
              </a:rPr>
              <a:t>Non-Core Points</a:t>
            </a:r>
            <a:r>
              <a:rPr lang="en" sz="1600">
                <a:solidFill>
                  <a:schemeClr val="dk1"/>
                </a:solidFill>
              </a:rPr>
              <a:t> can only join a cluster and can not be used to extend it further 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This forms one cluster.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80" name="Google Shape;280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3100" y="2855975"/>
            <a:ext cx="5618300" cy="158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Form Clusters </a:t>
            </a:r>
            <a:endParaRPr/>
          </a:p>
        </p:txBody>
      </p:sp>
      <p:sp>
        <p:nvSpPr>
          <p:cNvPr id="286" name="Google Shape;286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287" name="Google Shape;28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00" y="2705875"/>
            <a:ext cx="2722401" cy="174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9"/>
          <p:cNvSpPr txBox="1"/>
          <p:nvPr/>
        </p:nvSpPr>
        <p:spPr>
          <a:xfrm>
            <a:off x="437750" y="1409000"/>
            <a:ext cx="2942100" cy="26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Repeat the process with remaining unvisited core points.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89" name="Google Shape;289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3337" y="2860675"/>
            <a:ext cx="2563876" cy="164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7750" y="1158102"/>
            <a:ext cx="2563901" cy="1702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 of different radius (eps)</a:t>
            </a:r>
            <a:endParaRPr/>
          </a:p>
        </p:txBody>
      </p:sp>
      <p:sp>
        <p:nvSpPr>
          <p:cNvPr id="296" name="Google Shape;296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7" name="Google Shape;297;p50"/>
          <p:cNvPicPr preferRelativeResize="0"/>
          <p:nvPr/>
        </p:nvPicPr>
        <p:blipFill rotWithShape="1">
          <a:blip r:embed="rId3">
            <a:alphaModFix/>
          </a:blip>
          <a:srcRect b="4224" l="9724" r="7095" t="0"/>
          <a:stretch/>
        </p:blipFill>
        <p:spPr>
          <a:xfrm>
            <a:off x="1220479" y="1152475"/>
            <a:ext cx="5933921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4" name="Google Shape;30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5013" y="804863"/>
            <a:ext cx="5133975" cy="35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1" name="Google Shape;31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6601" y="1171689"/>
            <a:ext cx="6699377" cy="2800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8" name="Google Shape;31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9076" y="1152473"/>
            <a:ext cx="7187825" cy="299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Complex shape (Face)</a:t>
            </a:r>
            <a:endParaRPr/>
          </a:p>
        </p:txBody>
      </p:sp>
      <p:sp>
        <p:nvSpPr>
          <p:cNvPr id="324" name="Google Shape;324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5" name="Google Shape;32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8825" y="1220875"/>
            <a:ext cx="4592576" cy="311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2" name="Google Shape;33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4524" y="445025"/>
            <a:ext cx="6078425" cy="405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56"/>
          <p:cNvSpPr txBox="1"/>
          <p:nvPr/>
        </p:nvSpPr>
        <p:spPr>
          <a:xfrm>
            <a:off x="2711550" y="1942500"/>
            <a:ext cx="3720900" cy="9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dk1"/>
                </a:solidFill>
              </a:rPr>
              <a:t>Thank You!</a:t>
            </a:r>
            <a:endParaRPr sz="5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