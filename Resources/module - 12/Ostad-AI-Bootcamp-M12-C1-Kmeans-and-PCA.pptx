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4fd9046f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4fd9046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9ca25184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9ca25184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9ca25184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9ca25184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9ca25184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9ca25184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9ca25184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9ca25184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9ca25184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9ca25184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b4fd9046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b4fd9046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9ca25184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9ca25184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9ca25184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9ca25184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9ca25184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9ca25184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9ca25184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9ca25184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9ca251841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9ca251841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9ca25184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9ca25184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9ca251841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9ca251841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9ca251841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9ca251841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9ca251841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9ca251841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0dd5612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0dd5612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9ca25184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9ca25184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9ca25184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9ca25184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9ca251841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9ca25184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9ca251841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9ca251841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9ca251841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e9ca251841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9ca251841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9ca251841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9ca251841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9ca251841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9ca251841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e9ca251841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9ca251841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9ca251841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b4fd9046f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b4fd9046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9ca251841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e9ca251841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0dd5612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0dd5612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0dd5612d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0dd5612d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0dd5612d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0dd5612d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9ca251841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e9ca251841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9ca251841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9ca251841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9ca251841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9ca251841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9ca251841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e9ca251841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9ca251841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e9ca251841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9ca251841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e9ca251841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9ca251841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e9ca251841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9ca251841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e9ca251841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9ca251841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e9ca251841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9ca251841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e9ca251841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9ca251841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e9ca251841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e9ca251841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e9ca251841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9ca251841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e9ca251841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9ca251841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e9ca251841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9ca251841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e9ca251841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415a286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e415a286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9ca251841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e9ca251841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c5a85c53e8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c5a85c53e8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0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Relationship Id="rId5" Type="http://schemas.openxmlformats.org/officeDocument/2006/relationships/image" Target="../media/image40.png"/><Relationship Id="rId6" Type="http://schemas.openxmlformats.org/officeDocument/2006/relationships/image" Target="../media/image6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Relationship Id="rId5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2.png"/><Relationship Id="rId4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5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9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10750"/>
            <a:ext cx="8520600" cy="162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200"/>
              <a:t>Unsupervised Learning: K Means Clustering and PCA</a:t>
            </a:r>
            <a:endParaRPr sz="3300"/>
          </a:p>
        </p:txBody>
      </p:sp>
      <p:sp>
        <p:nvSpPr>
          <p:cNvPr id="55" name="Google Shape;55;p13"/>
          <p:cNvSpPr txBox="1"/>
          <p:nvPr/>
        </p:nvSpPr>
        <p:spPr>
          <a:xfrm>
            <a:off x="2462213" y="3364350"/>
            <a:ext cx="42192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Abdullah Saihan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A</a:t>
            </a:r>
            <a:r>
              <a:rPr lang="en" sz="2200"/>
              <a:t>rtificial Intelligence</a:t>
            </a:r>
            <a:r>
              <a:rPr lang="en" sz="2200">
                <a:solidFill>
                  <a:srgbClr val="000000"/>
                </a:solidFill>
              </a:rPr>
              <a:t> Engineer</a:t>
            </a:r>
            <a:endParaRPr sz="2200">
              <a:solidFill>
                <a:srgbClr val="595959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5250" y="4226325"/>
            <a:ext cx="1793126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11600" y="2327200"/>
            <a:ext cx="85206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K-Means Clustering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Segmentation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875" y="1152475"/>
            <a:ext cx="3651425" cy="27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2475"/>
            <a:ext cx="4760374" cy="2738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Anomaly Detection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3"/>
            <a:ext cx="4337025" cy="32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 b="0" l="13301" r="11039" t="7433"/>
          <a:stretch/>
        </p:blipFill>
        <p:spPr>
          <a:xfrm>
            <a:off x="4822025" y="1245050"/>
            <a:ext cx="3881451" cy="285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 Engine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6200" y="1331075"/>
            <a:ext cx="3702850" cy="2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4">
            <a:alphaModFix/>
          </a:blip>
          <a:srcRect b="8737" l="8878" r="10261" t="17222"/>
          <a:stretch/>
        </p:blipFill>
        <p:spPr>
          <a:xfrm>
            <a:off x="381000" y="1331075"/>
            <a:ext cx="4725207" cy="226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 Means Clustering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425" y="1453325"/>
            <a:ext cx="7895400" cy="30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152475"/>
            <a:ext cx="762000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Compression using K-Means Clustering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487" y="1152475"/>
            <a:ext cx="5383025" cy="318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599" cy="3336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2771125" y="1607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575" y="1152487"/>
            <a:ext cx="7566800" cy="321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551" y="1152475"/>
            <a:ext cx="4820300" cy="333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443200" cy="333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800" y="1152475"/>
            <a:ext cx="7858125" cy="30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800" y="1152476"/>
            <a:ext cx="841639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400" y="1184213"/>
            <a:ext cx="6610975" cy="3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00" y="1152475"/>
            <a:ext cx="8336950" cy="326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225" y="1152475"/>
            <a:ext cx="7175049" cy="33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 rotWithShape="1">
          <a:blip r:embed="rId3">
            <a:alphaModFix/>
          </a:blip>
          <a:srcRect b="0" l="14471" r="15789" t="14603"/>
          <a:stretch/>
        </p:blipFill>
        <p:spPr>
          <a:xfrm>
            <a:off x="1714500" y="1394200"/>
            <a:ext cx="5474350" cy="293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475" y="1152475"/>
            <a:ext cx="6376148" cy="332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525" y="1152475"/>
            <a:ext cx="42705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Kmeans in 3D</a:t>
            </a:r>
            <a:endParaRPr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3"/>
          <p:cNvPicPr preferRelativeResize="0"/>
          <p:nvPr/>
        </p:nvPicPr>
        <p:blipFill rotWithShape="1">
          <a:blip r:embed="rId3">
            <a:alphaModFix/>
          </a:blip>
          <a:srcRect b="4630" l="18094" r="10584" t="12691"/>
          <a:stretch/>
        </p:blipFill>
        <p:spPr>
          <a:xfrm>
            <a:off x="2609000" y="1152475"/>
            <a:ext cx="3810000" cy="331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2475" y="1152475"/>
            <a:ext cx="4830674" cy="335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 Minimize WCSS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375" y="1152475"/>
            <a:ext cx="5327102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Optimal K</a:t>
            </a:r>
            <a:endParaRPr/>
          </a:p>
        </p:txBody>
      </p:sp>
      <p:sp>
        <p:nvSpPr>
          <p:cNvPr id="219" name="Google Shape;21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9975" y="1152475"/>
            <a:ext cx="464715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525" y="1152475"/>
            <a:ext cx="455521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699" y="1152475"/>
            <a:ext cx="5001576" cy="33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024" y="82075"/>
            <a:ext cx="4319679" cy="456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0"/>
          <p:cNvSpPr txBox="1"/>
          <p:nvPr/>
        </p:nvSpPr>
        <p:spPr>
          <a:xfrm>
            <a:off x="311600" y="2327200"/>
            <a:ext cx="85206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Principal Component Analysis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Dimensionality Reduction </a:t>
            </a:r>
            <a:endParaRPr/>
          </a:p>
        </p:txBody>
      </p:sp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800" y="1652525"/>
            <a:ext cx="8264402" cy="214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</a:t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2"/>
          <p:cNvSpPr txBox="1"/>
          <p:nvPr/>
        </p:nvSpPr>
        <p:spPr>
          <a:xfrm>
            <a:off x="950550" y="1152475"/>
            <a:ext cx="7242900" cy="29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Feature Extraction (Dimensionality Reduction)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PCA creates a smaller set of </a:t>
            </a:r>
            <a:r>
              <a:rPr b="1" lang="en" sz="1600">
                <a:solidFill>
                  <a:schemeClr val="dk1"/>
                </a:solidFill>
              </a:rPr>
              <a:t>new features (principal components)</a:t>
            </a:r>
            <a:r>
              <a:rPr lang="en" sz="1600">
                <a:solidFill>
                  <a:schemeClr val="dk1"/>
                </a:solidFill>
              </a:rPr>
              <a:t> that preserve most of the information (variance) in the data.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Benefits: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Faster model training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Lower memory usage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Removes redundant/correlated information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Application</a:t>
            </a:r>
            <a:endParaRPr/>
          </a:p>
        </p:txBody>
      </p:sp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3"/>
          <p:cNvSpPr txBox="1"/>
          <p:nvPr/>
        </p:nvSpPr>
        <p:spPr>
          <a:xfrm>
            <a:off x="950550" y="1152475"/>
            <a:ext cx="7242900" cy="29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Visualization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PCA reduces high-dimensional data (e.g., hundreds or thousands of features) to </a:t>
            </a:r>
            <a:r>
              <a:rPr b="1" lang="en" sz="1600">
                <a:solidFill>
                  <a:schemeClr val="dk1"/>
                </a:solidFill>
              </a:rPr>
              <a:t>2 or 3 principal components</a:t>
            </a:r>
            <a:r>
              <a:rPr lang="en" sz="1600">
                <a:solidFill>
                  <a:schemeClr val="dk1"/>
                </a:solidFill>
              </a:rPr>
              <a:t> so that it can be visualized.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Projects the data onto the directions with the highest variance.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Helps identify: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Clusters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Outliers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Class separation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Data distribution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Application</a:t>
            </a:r>
            <a:endParaRPr/>
          </a:p>
        </p:txBody>
      </p:sp>
      <p:sp>
        <p:nvSpPr>
          <p:cNvPr id="275" name="Google Shape;27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4"/>
          <p:cNvSpPr txBox="1"/>
          <p:nvPr/>
        </p:nvSpPr>
        <p:spPr>
          <a:xfrm>
            <a:off x="311700" y="1152475"/>
            <a:ext cx="7242900" cy="3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Data Compression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PCA can compress data by storing only the most important principal components.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Instead of storing all original features, we store: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Principal component scores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PCA basis vectors (eigenvectors)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original data can later be approximately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reconstructed.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Example: Image Compression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77" name="Google Shape;27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275" y="1994425"/>
            <a:ext cx="4169024" cy="223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Correlation</a:t>
            </a:r>
            <a:endParaRPr/>
          </a:p>
        </p:txBody>
      </p:sp>
      <p:sp>
        <p:nvSpPr>
          <p:cNvPr id="283" name="Google Shape;28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6175" y="1214925"/>
            <a:ext cx="5581251" cy="313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</a:t>
            </a:r>
            <a:endParaRPr/>
          </a:p>
        </p:txBody>
      </p:sp>
      <p:sp>
        <p:nvSpPr>
          <p:cNvPr id="290" name="Google Shape;29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637" y="1455200"/>
            <a:ext cx="8464725" cy="245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Variance vs Low Variance </a:t>
            </a:r>
            <a:endParaRPr/>
          </a:p>
        </p:txBody>
      </p:sp>
      <p:sp>
        <p:nvSpPr>
          <p:cNvPr id="297" name="Google Shape;297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47"/>
          <p:cNvPicPr preferRelativeResize="0"/>
          <p:nvPr/>
        </p:nvPicPr>
        <p:blipFill rotWithShape="1">
          <a:blip r:embed="rId3">
            <a:alphaModFix/>
          </a:blip>
          <a:srcRect b="14770" l="0" r="0" t="0"/>
          <a:stretch/>
        </p:blipFill>
        <p:spPr>
          <a:xfrm>
            <a:off x="311700" y="2342725"/>
            <a:ext cx="3457651" cy="181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325" y="1120625"/>
            <a:ext cx="4301104" cy="11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2669" y="1120625"/>
            <a:ext cx="4273882" cy="11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7"/>
          <p:cNvPicPr preferRelativeResize="0"/>
          <p:nvPr/>
        </p:nvPicPr>
        <p:blipFill rotWithShape="1">
          <a:blip r:embed="rId6">
            <a:alphaModFix/>
          </a:blip>
          <a:srcRect b="12968" l="0" r="0" t="0"/>
          <a:stretch/>
        </p:blipFill>
        <p:spPr>
          <a:xfrm>
            <a:off x="5374650" y="2342725"/>
            <a:ext cx="3457650" cy="19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vs Low Variance Feature</a:t>
            </a:r>
            <a:endParaRPr/>
          </a:p>
        </p:txBody>
      </p:sp>
      <p:sp>
        <p:nvSpPr>
          <p:cNvPr id="307" name="Google Shape;30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12400"/>
            <a:ext cx="42481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52475"/>
            <a:ext cx="4248151" cy="155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031286"/>
            <a:ext cx="4248151" cy="143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450" y="1152475"/>
            <a:ext cx="6253975" cy="335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800" y="1203087"/>
            <a:ext cx="6395325" cy="33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51"/>
          <p:cNvPicPr preferRelativeResize="0"/>
          <p:nvPr/>
        </p:nvPicPr>
        <p:blipFill rotWithShape="1">
          <a:blip r:embed="rId3">
            <a:alphaModFix/>
          </a:blip>
          <a:srcRect b="25438" l="4918" r="4338" t="8143"/>
          <a:stretch/>
        </p:blipFill>
        <p:spPr>
          <a:xfrm>
            <a:off x="635000" y="1152475"/>
            <a:ext cx="7874002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100" y="1152477"/>
            <a:ext cx="744029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750" y="1352350"/>
            <a:ext cx="6286500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2" name="Google Shape;35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300" y="1152475"/>
            <a:ext cx="4260299" cy="2157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109" y="1152475"/>
            <a:ext cx="4017191" cy="21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0" name="Google Shape;36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450" y="1179488"/>
            <a:ext cx="7507451" cy="33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Standardardization</a:t>
            </a:r>
            <a:endParaRPr/>
          </a:p>
        </p:txBody>
      </p:sp>
      <p:sp>
        <p:nvSpPr>
          <p:cNvPr id="366" name="Google Shape;366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579" y="1234550"/>
            <a:ext cx="6630846" cy="30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Calculate Covariance Matrix</a:t>
            </a:r>
            <a:endParaRPr/>
          </a:p>
        </p:txBody>
      </p:sp>
      <p:sp>
        <p:nvSpPr>
          <p:cNvPr id="373" name="Google Shape;373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25" y="1152475"/>
            <a:ext cx="4376575" cy="19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3100" y="1152475"/>
            <a:ext cx="3740726" cy="331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57"/>
          <p:cNvPicPr preferRelativeResize="0"/>
          <p:nvPr/>
        </p:nvPicPr>
        <p:blipFill rotWithShape="1">
          <a:blip r:embed="rId5">
            <a:alphaModFix/>
          </a:blip>
          <a:srcRect b="52467" l="0" r="1381" t="18542"/>
          <a:stretch/>
        </p:blipFill>
        <p:spPr>
          <a:xfrm>
            <a:off x="403913" y="3580200"/>
            <a:ext cx="4192149" cy="892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Eigen Decomposition</a:t>
            </a:r>
            <a:endParaRPr/>
          </a:p>
        </p:txBody>
      </p:sp>
      <p:sp>
        <p:nvSpPr>
          <p:cNvPr id="382" name="Google Shape;382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E3E3E3"/>
                </a:solidFill>
                <a:highlight>
                  <a:srgbClr val="1E1F20"/>
                </a:highlight>
              </a:rPr>
              <a:t>instead of variable 1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383" name="Google Shape;38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455751" cy="73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58"/>
          <p:cNvPicPr preferRelativeResize="0"/>
          <p:nvPr/>
        </p:nvPicPr>
        <p:blipFill rotWithShape="1">
          <a:blip r:embed="rId4">
            <a:alphaModFix/>
          </a:blip>
          <a:srcRect b="0" l="10889" r="7238" t="0"/>
          <a:stretch/>
        </p:blipFill>
        <p:spPr>
          <a:xfrm>
            <a:off x="451425" y="2022525"/>
            <a:ext cx="24486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0075" y="2022525"/>
            <a:ext cx="2990850" cy="2328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1225" y="2936175"/>
            <a:ext cx="35814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4: Decide number of components to keep</a:t>
            </a:r>
            <a:endParaRPr/>
          </a:p>
        </p:txBody>
      </p:sp>
      <p:sp>
        <p:nvSpPr>
          <p:cNvPr id="392" name="Google Shape;392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3523" y="1242375"/>
            <a:ext cx="4628199" cy="32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Eigenvector and Eigenvalue</a:t>
            </a:r>
            <a:endParaRPr/>
          </a:p>
        </p:txBody>
      </p:sp>
      <p:sp>
        <p:nvSpPr>
          <p:cNvPr id="399" name="Google Shape;399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60"/>
          <p:cNvPicPr preferRelativeResize="0"/>
          <p:nvPr/>
        </p:nvPicPr>
        <p:blipFill rotWithShape="1">
          <a:blip r:embed="rId3">
            <a:alphaModFix/>
          </a:blip>
          <a:srcRect b="9176" l="5549" r="4369" t="15055"/>
          <a:stretch/>
        </p:blipFill>
        <p:spPr>
          <a:xfrm>
            <a:off x="1685625" y="1152475"/>
            <a:ext cx="577275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61"/>
          <p:cNvPicPr preferRelativeResize="0"/>
          <p:nvPr/>
        </p:nvPicPr>
        <p:blipFill rotWithShape="1">
          <a:blip r:embed="rId3">
            <a:alphaModFix/>
          </a:blip>
          <a:srcRect b="3718" l="15675" r="19012" t="21015"/>
          <a:stretch/>
        </p:blipFill>
        <p:spPr>
          <a:xfrm>
            <a:off x="2747339" y="1152475"/>
            <a:ext cx="3887212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414" name="Google Shape;414;p62"/>
          <p:cNvSpPr txBox="1"/>
          <p:nvPr/>
        </p:nvSpPr>
        <p:spPr>
          <a:xfrm>
            <a:off x="2313950" y="2237250"/>
            <a:ext cx="42192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200">
                <a:solidFill>
                  <a:schemeClr val="dk1"/>
                </a:solidFill>
              </a:rPr>
              <a:t>Thank you!</a:t>
            </a:r>
            <a:endParaRPr sz="3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