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embeddedFontLst>
    <p:embeddedFont>
      <p:font typeface="Robot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italic.fntdata"/><Relationship Id="rId20" Type="http://schemas.openxmlformats.org/officeDocument/2006/relationships/slide" Target="slides/slide15.xml"/><Relationship Id="rId41" Type="http://schemas.openxmlformats.org/officeDocument/2006/relationships/font" Target="fonts/Roboto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oboto-bold.fntdata"/><Relationship Id="rId16" Type="http://schemas.openxmlformats.org/officeDocument/2006/relationships/slide" Target="slides/slide11.xml"/><Relationship Id="rId38" Type="http://schemas.openxmlformats.org/officeDocument/2006/relationships/font" Target="fonts/Roboto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ee6fec7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ee6fec7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ee1c265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ee1c265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ee1c265e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ee1c265e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ee1c265e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ee1c265e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ee1c265e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eee1c265e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ee1c265e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ee1c265e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ee1c265e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ee1c265e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ee1c265e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ee1c265e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ee1c265e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ee1c265e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ee1c265e1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ee1c265e1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ee1c265e1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ee1c265e1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ee1c265e1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ee1c265e1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13614527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1361452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ee1c265e1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ee1c265e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ee1c265e1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eee1c265e1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ee1c265e1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ee1c265e1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ee1c265e1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eee1c265e1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ee1c265e1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eee1c265e1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ee1c265e1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eee1c265e1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ee1c265e1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eee1c265e1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ee6fec74a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eee6fec74a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ee1c265e1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eee1c265e1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ad45c5c4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ead45c5c4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ee1c265e1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eee1c265e1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ead45c5c4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ead45c5c4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eee1c265e1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eee1c265e1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eee1c265e1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eee1c265e1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eee1c265e1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eee1c265e1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eee1c265e1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eee1c265e1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eee6fec74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eee6fec74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ad45c5c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ead45c5c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eee1c265e1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eee1c265e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Relationship Id="rId4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3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gif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6.png"/><Relationship Id="rId4" Type="http://schemas.openxmlformats.org/officeDocument/2006/relationships/image" Target="../media/image3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gif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3.gif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810750"/>
            <a:ext cx="8520600" cy="14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200"/>
              <a:t>Backpropagation</a:t>
            </a:r>
            <a:endParaRPr sz="3200"/>
          </a:p>
        </p:txBody>
      </p:sp>
      <p:sp>
        <p:nvSpPr>
          <p:cNvPr id="55" name="Google Shape;55;p13"/>
          <p:cNvSpPr txBox="1"/>
          <p:nvPr/>
        </p:nvSpPr>
        <p:spPr>
          <a:xfrm>
            <a:off x="2462213" y="3364350"/>
            <a:ext cx="4219200" cy="1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</a:rPr>
              <a:t>Abdullah Saihan</a:t>
            </a:r>
            <a:endParaRPr b="1" sz="22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</a:rPr>
              <a:t>A</a:t>
            </a:r>
            <a:r>
              <a:rPr lang="en" sz="2200"/>
              <a:t>rtificial Intelligence</a:t>
            </a:r>
            <a:r>
              <a:rPr lang="en" sz="2200">
                <a:solidFill>
                  <a:srgbClr val="000000"/>
                </a:solidFill>
              </a:rPr>
              <a:t> Engineer</a:t>
            </a:r>
            <a:endParaRPr sz="2200">
              <a:solidFill>
                <a:srgbClr val="595959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5250" y="4226325"/>
            <a:ext cx="1793126" cy="39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4850" y="1152475"/>
            <a:ext cx="4219799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0150" y="1152475"/>
            <a:ext cx="3274048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6650" y="1152475"/>
            <a:ext cx="339393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479" y="1152475"/>
            <a:ext cx="4266895" cy="347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5375" y="1152475"/>
            <a:ext cx="4142276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1200" y="1152475"/>
            <a:ext cx="4210349" cy="3472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7800" y="1152475"/>
            <a:ext cx="4145051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1890" y="1152475"/>
            <a:ext cx="4145059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 rotWithShape="1">
          <a:blip r:embed="rId3">
            <a:alphaModFix/>
          </a:blip>
          <a:srcRect b="7629" l="20523" r="13058" t="6556"/>
          <a:stretch/>
        </p:blipFill>
        <p:spPr>
          <a:xfrm>
            <a:off x="369350" y="1152475"/>
            <a:ext cx="5061426" cy="326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6625" y="1152475"/>
            <a:ext cx="2995675" cy="334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1075" y="2141551"/>
            <a:ext cx="3079475" cy="238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5527" y="1146465"/>
            <a:ext cx="5580701" cy="86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3"/>
          <p:cNvSpPr txBox="1"/>
          <p:nvPr/>
        </p:nvSpPr>
        <p:spPr>
          <a:xfrm>
            <a:off x="6656525" y="2869275"/>
            <a:ext cx="1914600" cy="13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9900FF"/>
                </a:solidFill>
              </a:rPr>
              <a:t>Don’t take the equation literally, the equation is not 100% mathematically accurate. It’s only meant to help you understand the concept intuitively.</a:t>
            </a:r>
            <a:endParaRPr sz="1100"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4"/>
          <p:cNvPicPr preferRelativeResize="0"/>
          <p:nvPr/>
        </p:nvPicPr>
        <p:blipFill rotWithShape="1">
          <a:blip r:embed="rId3">
            <a:alphaModFix/>
          </a:blip>
          <a:srcRect b="0" l="18989" r="0" t="0"/>
          <a:stretch/>
        </p:blipFill>
        <p:spPr>
          <a:xfrm>
            <a:off x="4275000" y="1152470"/>
            <a:ext cx="4557300" cy="2935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152475"/>
            <a:ext cx="3963296" cy="3128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4065750" cy="244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9750" y="1171300"/>
            <a:ext cx="4502548" cy="2800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4850" y="1152475"/>
            <a:ext cx="6105393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8737" y="1183312"/>
            <a:ext cx="6466525" cy="277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950" y="1542963"/>
            <a:ext cx="8051375" cy="205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6"/>
            <a:ext cx="7844450" cy="26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17475"/>
            <a:ext cx="4134150" cy="257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0"/>
          <p:cNvPicPr preferRelativeResize="0"/>
          <p:nvPr/>
        </p:nvPicPr>
        <p:blipFill rotWithShape="1">
          <a:blip r:embed="rId4">
            <a:alphaModFix/>
          </a:blip>
          <a:srcRect b="0" l="11499" r="10855" t="0"/>
          <a:stretch/>
        </p:blipFill>
        <p:spPr>
          <a:xfrm>
            <a:off x="4445850" y="1199977"/>
            <a:ext cx="4260301" cy="2743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5673" y="1152475"/>
            <a:ext cx="6072651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1700" y="1183375"/>
            <a:ext cx="6773739" cy="3354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5327" y="1152475"/>
            <a:ext cx="5849998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Forward </a:t>
            </a:r>
            <a:r>
              <a:rPr lang="en"/>
              <a:t>Propagation</a:t>
            </a:r>
            <a:endParaRPr/>
          </a:p>
        </p:txBody>
      </p:sp>
      <p:sp>
        <p:nvSpPr>
          <p:cNvPr id="208" name="Google Shape;208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9" name="Google Shape;209;p34"/>
          <p:cNvPicPr preferRelativeResize="0"/>
          <p:nvPr/>
        </p:nvPicPr>
        <p:blipFill rotWithShape="1">
          <a:blip r:embed="rId3">
            <a:alphaModFix/>
          </a:blip>
          <a:srcRect b="52128" l="0" r="0" t="0"/>
          <a:stretch/>
        </p:blipFill>
        <p:spPr>
          <a:xfrm>
            <a:off x="1230025" y="1723625"/>
            <a:ext cx="6683950" cy="246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Forward </a:t>
            </a:r>
            <a:r>
              <a:rPr lang="en"/>
              <a:t>Propagation</a:t>
            </a:r>
            <a:endParaRPr/>
          </a:p>
        </p:txBody>
      </p:sp>
      <p:sp>
        <p:nvSpPr>
          <p:cNvPr id="215" name="Google Shape;215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7264437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Backpropagation</a:t>
            </a:r>
            <a:r>
              <a:rPr lang="en"/>
              <a:t> and Chain Rule</a:t>
            </a:r>
            <a:endParaRPr/>
          </a:p>
        </p:txBody>
      </p:sp>
      <p:sp>
        <p:nvSpPr>
          <p:cNvPr id="222" name="Google Shape;222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3" name="Google Shape;223;p36"/>
          <p:cNvPicPr preferRelativeResize="0"/>
          <p:nvPr/>
        </p:nvPicPr>
        <p:blipFill rotWithShape="1">
          <a:blip r:embed="rId3">
            <a:alphaModFix/>
          </a:blip>
          <a:srcRect b="48823" l="0" r="0" t="0"/>
          <a:stretch/>
        </p:blipFill>
        <p:spPr>
          <a:xfrm>
            <a:off x="311700" y="1152475"/>
            <a:ext cx="5869499" cy="2311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6"/>
          <p:cNvPicPr preferRelativeResize="0"/>
          <p:nvPr/>
        </p:nvPicPr>
        <p:blipFill rotWithShape="1">
          <a:blip r:embed="rId4">
            <a:alphaModFix/>
          </a:blip>
          <a:srcRect b="7219" l="31917" r="39635" t="54219"/>
          <a:stretch/>
        </p:blipFill>
        <p:spPr>
          <a:xfrm>
            <a:off x="6737373" y="1479088"/>
            <a:ext cx="2094927" cy="218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Backpropagation and Chain Rule</a:t>
            </a:r>
            <a:endParaRPr/>
          </a:p>
        </p:txBody>
      </p:sp>
      <p:sp>
        <p:nvSpPr>
          <p:cNvPr id="230" name="Google Shape;230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1" name="Google Shape;23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9" y="1152475"/>
            <a:ext cx="7004524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1711" y="1190700"/>
            <a:ext cx="7340575" cy="333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5" name="Google Shape;24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2350" y="1627835"/>
            <a:ext cx="5917650" cy="2465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6409" y="1152475"/>
            <a:ext cx="6073618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5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675" y="1180163"/>
            <a:ext cx="7697000" cy="336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Backprop in a multilayer network</a:t>
            </a:r>
            <a:endParaRPr/>
          </a:p>
        </p:txBody>
      </p:sp>
      <p:sp>
        <p:nvSpPr>
          <p:cNvPr id="265" name="Google Shape;265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6889" y="1152476"/>
            <a:ext cx="6082611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43"/>
          <p:cNvSpPr txBox="1"/>
          <p:nvPr/>
        </p:nvSpPr>
        <p:spPr>
          <a:xfrm>
            <a:off x="311700" y="1152475"/>
            <a:ext cx="5819700" cy="30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35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Training Process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Forward propagation resulting in an output and loss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Backward propagation using the chain rule to compute the gradient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Descend the loss by performing gradient descent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0" name="Google Shape;28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1675" y="445025"/>
            <a:ext cx="2859915" cy="41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